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6"/>
  </p:notesMasterIdLst>
  <p:sldIdLst>
    <p:sldId id="256" r:id="rId2"/>
    <p:sldId id="258" r:id="rId3"/>
    <p:sldId id="261" r:id="rId4"/>
    <p:sldId id="263" r:id="rId5"/>
    <p:sldId id="264" r:id="rId6"/>
    <p:sldId id="269" r:id="rId7"/>
    <p:sldId id="275" r:id="rId8"/>
    <p:sldId id="271" r:id="rId9"/>
    <p:sldId id="276" r:id="rId10"/>
    <p:sldId id="277" r:id="rId11"/>
    <p:sldId id="270" r:id="rId12"/>
    <p:sldId id="279" r:id="rId13"/>
    <p:sldId id="278" r:id="rId14"/>
    <p:sldId id="280" r:id="rId15"/>
  </p:sldIdLst>
  <p:sldSz cx="9144000" cy="5143500" type="screen16x9"/>
  <p:notesSz cx="6858000" cy="9144000"/>
  <p:embeddedFontLst>
    <p:embeddedFont>
      <p:font typeface="Mulish" charset="0"/>
      <p:regular r:id="rId17"/>
      <p:bold r:id="rId18"/>
      <p:italic r:id="rId19"/>
      <p:boldItalic r:id="rId20"/>
    </p:embeddedFont>
    <p:embeddedFont>
      <p:font typeface="Quicksand" charset="0"/>
      <p:regular r:id="rId21"/>
      <p:bold r:id="rId22"/>
    </p:embeddedFont>
    <p:embeddedFont>
      <p:font typeface="Bebas Neue" charset="0"/>
      <p:regular r:id="rId23"/>
    </p:embeddedFont>
    <p:embeddedFont>
      <p:font typeface="PT Sans" charset="0"/>
      <p:regular r:id="rId24"/>
      <p:bold r:id="rId25"/>
      <p:italic r:id="rId26"/>
      <p:boldItalic r:id="rId27"/>
    </p:embeddedFont>
    <p:embeddedFont>
      <p:font typeface="Nunito Light" charset="0"/>
      <p:regular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CD928B5B-F72E-482E-98E9-F252FE50A240}">
  <a:tblStyle styleId="{CD928B5B-F72E-482E-98E9-F252FE50A2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>
        <p:scale>
          <a:sx n="85" d="100"/>
          <a:sy n="85" d="100"/>
        </p:scale>
        <p:origin x="-78" y="-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5570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dd46dd1d67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dd46dd1d67_2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3551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5" name="Google Shape;135;p1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6" name="Google Shape;136;p1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8" name="Google Shape;138;p1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139" name="Google Shape;139;p1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>
            <a:spLocks noGrp="1"/>
          </p:cNvSpPr>
          <p:nvPr>
            <p:ph type="pic" idx="2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5" name="Google Shape;155;p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6" name="Google Shape;156;p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3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4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5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6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8" name="Google Shape;238;p2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9" name="Google Shape;239;p2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0" name="Google Shape;240;p2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41" name="Google Shape;241;p2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42" name="Google Shape;242;p2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4" name="Google Shape;244;p22"/>
          <p:cNvSpPr txBox="1">
            <a:spLocks noGrp="1"/>
          </p:cNvSpPr>
          <p:nvPr>
            <p:ph type="title" hasCustomPrompt="1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1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22"/>
          <p:cNvSpPr txBox="1">
            <a:spLocks noGrp="1"/>
          </p:cNvSpPr>
          <p:nvPr>
            <p:ph type="subTitle" idx="3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22"/>
          <p:cNvSpPr txBox="1">
            <a:spLocks noGrp="1"/>
          </p:cNvSpPr>
          <p:nvPr>
            <p:ph type="subTitle" idx="5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9" r:id="rId4"/>
    <p:sldLayoutId id="2147483660" r:id="rId5"/>
    <p:sldLayoutId id="2147483661" r:id="rId6"/>
    <p:sldLayoutId id="2147483663" r:id="rId7"/>
    <p:sldLayoutId id="2147483668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609200" y="1580974"/>
            <a:ext cx="5925600" cy="9775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2000" b="1" dirty="0">
                <a:latin typeface="Arial"/>
              </a:rPr>
              <a:t>PLANO DE NEGÓCIOS: IMPLANTAÇÃO DE UMA LOJA ENCANTO DOCE EM</a:t>
            </a:r>
            <a:br>
              <a:rPr lang="pt-BR" sz="2000" b="1" dirty="0">
                <a:latin typeface="Arial"/>
              </a:rPr>
            </a:br>
            <a:r>
              <a:rPr lang="pt-BR" sz="2000" b="1" dirty="0">
                <a:latin typeface="Arial"/>
              </a:rPr>
              <a:t>BARRA </a:t>
            </a:r>
            <a:r>
              <a:rPr lang="pt-BR" sz="2000" b="1" dirty="0">
                <a:latin typeface="Arial,Bold"/>
              </a:rPr>
              <a:t>– </a:t>
            </a:r>
            <a:r>
              <a:rPr lang="pt-BR" sz="2000" b="1" dirty="0">
                <a:latin typeface="Arial"/>
              </a:rPr>
              <a:t>BA</a:t>
            </a:r>
            <a:endParaRPr sz="18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1991311" y="3275130"/>
            <a:ext cx="5339772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 err="1" smtClean="0">
                <a:solidFill>
                  <a:schemeClr val="bg1">
                    <a:lumMod val="10000"/>
                  </a:schemeClr>
                </a:solidFill>
                <a:latin typeface="+mn-lt"/>
              </a:rPr>
              <a:t>Damylle</a:t>
            </a:r>
            <a:r>
              <a:rPr lang="pt-BR" sz="1200" b="1" dirty="0" smtClean="0">
                <a:solidFill>
                  <a:schemeClr val="bg1">
                    <a:lumMod val="10000"/>
                  </a:schemeClr>
                </a:solidFill>
                <a:latin typeface="+mn-lt"/>
              </a:rPr>
              <a:t> </a:t>
            </a:r>
            <a:r>
              <a:rPr lang="pt-BR" sz="1200" b="1" dirty="0">
                <a:solidFill>
                  <a:schemeClr val="bg1">
                    <a:lumMod val="10000"/>
                  </a:schemeClr>
                </a:solidFill>
                <a:latin typeface="+mn-lt"/>
              </a:rPr>
              <a:t>dos Santos Oliveira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sz="1200" b="1" dirty="0">
              <a:solidFill>
                <a:schemeClr val="bg1">
                  <a:lumMod val="10000"/>
                </a:schemeClr>
              </a:solidFill>
              <a:latin typeface="+mn-l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bg1">
                    <a:lumMod val="10000"/>
                  </a:schemeClr>
                </a:solidFill>
                <a:latin typeface="+mn-lt"/>
              </a:rPr>
              <a:t>Orientadora: Prof.ª Maria Paloma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sz="1200" b="1" dirty="0">
              <a:solidFill>
                <a:schemeClr val="bg1">
                  <a:lumMod val="10000"/>
                </a:schemeClr>
              </a:solidFill>
              <a:latin typeface="+mn-l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sz="1200" b="1" dirty="0">
              <a:solidFill>
                <a:schemeClr val="bg1">
                  <a:lumMod val="10000"/>
                </a:schemeClr>
              </a:solidFill>
              <a:latin typeface="+mn-l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sz="1200" b="1" dirty="0">
              <a:solidFill>
                <a:schemeClr val="bg1">
                  <a:lumMod val="10000"/>
                </a:schemeClr>
              </a:solidFill>
              <a:latin typeface="+mn-l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 smtClean="0">
                <a:solidFill>
                  <a:schemeClr val="bg1">
                    <a:lumMod val="10000"/>
                  </a:schemeClr>
                </a:solidFill>
                <a:latin typeface="+mn-lt"/>
              </a:rPr>
              <a:t>Barra - BA</a:t>
            </a:r>
            <a:endParaRPr lang="pt-BR" sz="1200" b="1" dirty="0">
              <a:solidFill>
                <a:schemeClr val="bg1">
                  <a:lumMod val="10000"/>
                </a:schemeClr>
              </a:solidFill>
              <a:latin typeface="+mn-l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bg1">
                    <a:lumMod val="10000"/>
                  </a:schemeClr>
                </a:solidFill>
                <a:latin typeface="+mn-lt"/>
              </a:rPr>
              <a:t>2024</a:t>
            </a:r>
            <a:endParaRPr sz="1200" b="1" dirty="0">
              <a:solidFill>
                <a:schemeClr val="bg1">
                  <a:lumMod val="10000"/>
                </a:schemeClr>
              </a:solidFill>
              <a:latin typeface="+mn-lt"/>
            </a:endParaRPr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9200" y="2697439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511453" y="1424875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xmlns="" id="{D1CCAD8D-39AA-5A56-67B8-D71CBEA6A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00" y="273370"/>
            <a:ext cx="1737511" cy="707197"/>
          </a:xfrm>
          <a:prstGeom prst="rect">
            <a:avLst/>
          </a:prstGeom>
        </p:spPr>
      </p:pic>
      <p:sp>
        <p:nvSpPr>
          <p:cNvPr id="3" name="Google Shape;286;p29">
            <a:extLst>
              <a:ext uri="{FF2B5EF4-FFF2-40B4-BE49-F238E27FC236}">
                <a16:creationId xmlns:a16="http://schemas.microsoft.com/office/drawing/2014/main" xmlns="" id="{FED8AF36-CABD-FC8B-9320-7076092A5DEC}"/>
              </a:ext>
            </a:extLst>
          </p:cNvPr>
          <p:cNvSpPr txBox="1">
            <a:spLocks/>
          </p:cNvSpPr>
          <p:nvPr/>
        </p:nvSpPr>
        <p:spPr>
          <a:xfrm>
            <a:off x="2082696" y="151168"/>
            <a:ext cx="5157002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>
              <a:lnSpc>
                <a:spcPct val="102000"/>
              </a:lnSpc>
              <a:spcBef>
                <a:spcPts val="1085"/>
              </a:spcBef>
            </a:pPr>
            <a:r>
              <a:rPr lang="pt-BR" sz="1200" b="1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CENTRO ESTADUAL DE EDUCAÇÃO PROFISSIONAL ÁGUAS</a:t>
            </a:r>
            <a:endParaRPr lang="pt-BR" sz="1200" dirty="0">
              <a:solidFill>
                <a:schemeClr val="bg1">
                  <a:lumMod val="1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2000"/>
              </a:lnSpc>
              <a:spcBef>
                <a:spcPts val="1085"/>
              </a:spcBef>
            </a:pPr>
            <a:r>
              <a:rPr lang="pt-BR" sz="1200" b="1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CURSO TÉCNICO EM ADMINISTRAÇÃO</a:t>
            </a:r>
            <a:endParaRPr lang="pt-BR" sz="1200" dirty="0">
              <a:solidFill>
                <a:schemeClr val="bg1">
                  <a:lumMod val="1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2000"/>
              </a:lnSpc>
              <a:spcBef>
                <a:spcPts val="1085"/>
              </a:spcBef>
            </a:pPr>
            <a:r>
              <a:rPr lang="pt-BR" sz="1200" b="1" dirty="0"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sz="12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/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>
            <a:spLocks noGrp="1"/>
          </p:cNvSpPr>
          <p:nvPr>
            <p:ph type="title"/>
          </p:nvPr>
        </p:nvSpPr>
        <p:spPr>
          <a:xfrm>
            <a:off x="3359125" y="439897"/>
            <a:ext cx="21495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>
                <a:solidFill>
                  <a:schemeClr val="bg2"/>
                </a:solidFill>
              </a:rPr>
              <a:t>TÓPICOS</a:t>
            </a:r>
            <a:endParaRPr lang="pt-BR" dirty="0">
              <a:solidFill>
                <a:schemeClr val="bg2"/>
              </a:solidFill>
            </a:endParaRPr>
          </a:p>
        </p:txBody>
      </p:sp>
      <p:sp>
        <p:nvSpPr>
          <p:cNvPr id="310" name="Google Shape;310;p31"/>
          <p:cNvSpPr txBox="1">
            <a:spLocks noGrp="1"/>
          </p:cNvSpPr>
          <p:nvPr>
            <p:ph type="title" idx="5"/>
          </p:nvPr>
        </p:nvSpPr>
        <p:spPr>
          <a:xfrm>
            <a:off x="713225" y="1141288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11" name="Google Shape;311;p31"/>
          <p:cNvSpPr txBox="1">
            <a:spLocks noGrp="1"/>
          </p:cNvSpPr>
          <p:nvPr>
            <p:ph type="title" idx="6"/>
          </p:nvPr>
        </p:nvSpPr>
        <p:spPr>
          <a:xfrm>
            <a:off x="3400076" y="2257674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12" name="Google Shape;312;p31"/>
          <p:cNvSpPr txBox="1">
            <a:spLocks noGrp="1"/>
          </p:cNvSpPr>
          <p:nvPr>
            <p:ph type="title" idx="7"/>
          </p:nvPr>
        </p:nvSpPr>
        <p:spPr>
          <a:xfrm>
            <a:off x="713225" y="2237617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13" name="Google Shape;313;p31"/>
          <p:cNvSpPr txBox="1">
            <a:spLocks noGrp="1"/>
          </p:cNvSpPr>
          <p:nvPr>
            <p:ph type="title" idx="8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6" name="Google Shape;316;p31"/>
          <p:cNvSpPr txBox="1">
            <a:spLocks noGrp="1"/>
          </p:cNvSpPr>
          <p:nvPr>
            <p:ph type="title" idx="14"/>
          </p:nvPr>
        </p:nvSpPr>
        <p:spPr>
          <a:xfrm>
            <a:off x="6159073" y="2279056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17" name="Google Shape;317;p31"/>
          <p:cNvSpPr txBox="1">
            <a:spLocks noGrp="1"/>
          </p:cNvSpPr>
          <p:nvPr>
            <p:ph type="title" idx="15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8" name="Google Shape;318;p31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Introdução</a:t>
            </a:r>
            <a:endParaRPr dirty="0"/>
          </a:p>
        </p:txBody>
      </p:sp>
      <p:sp>
        <p:nvSpPr>
          <p:cNvPr id="319" name="Google Shape;319;p31"/>
          <p:cNvSpPr txBox="1">
            <a:spLocks noGrp="1"/>
          </p:cNvSpPr>
          <p:nvPr>
            <p:ph type="subTitle" idx="17"/>
          </p:nvPr>
        </p:nvSpPr>
        <p:spPr>
          <a:xfrm>
            <a:off x="720000" y="2737901"/>
            <a:ext cx="2587536" cy="4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Produtos e serviços</a:t>
            </a:r>
            <a:endParaRPr dirty="0"/>
          </a:p>
        </p:txBody>
      </p:sp>
      <p:sp>
        <p:nvSpPr>
          <p:cNvPr id="320" name="Google Shape;320;p31"/>
          <p:cNvSpPr txBox="1">
            <a:spLocks noGrp="1"/>
          </p:cNvSpPr>
          <p:nvPr>
            <p:ph type="subTitle" idx="18"/>
          </p:nvPr>
        </p:nvSpPr>
        <p:spPr>
          <a:xfrm>
            <a:off x="3406185" y="2737330"/>
            <a:ext cx="2611104" cy="4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Analise de mercado</a:t>
            </a:r>
            <a:endParaRPr dirty="0"/>
          </a:p>
        </p:txBody>
      </p:sp>
      <p:sp>
        <p:nvSpPr>
          <p:cNvPr id="321" name="Google Shape;321;p31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Objetivos</a:t>
            </a:r>
            <a:endParaRPr dirty="0"/>
          </a:p>
        </p:txBody>
      </p:sp>
      <p:sp>
        <p:nvSpPr>
          <p:cNvPr id="322" name="Google Shape;322;p31"/>
          <p:cNvSpPr txBox="1">
            <a:spLocks noGrp="1"/>
          </p:cNvSpPr>
          <p:nvPr>
            <p:ph type="subTitle" idx="20"/>
          </p:nvPr>
        </p:nvSpPr>
        <p:spPr>
          <a:xfrm>
            <a:off x="6115938" y="2732824"/>
            <a:ext cx="2611104" cy="4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Plano de marketing</a:t>
            </a:r>
            <a:endParaRPr dirty="0"/>
          </a:p>
        </p:txBody>
      </p:sp>
      <p:sp>
        <p:nvSpPr>
          <p:cNvPr id="323" name="Google Shape;323;p31"/>
          <p:cNvSpPr txBox="1">
            <a:spLocks noGrp="1"/>
          </p:cNvSpPr>
          <p:nvPr>
            <p:ph type="subTitle" idx="21"/>
          </p:nvPr>
        </p:nvSpPr>
        <p:spPr>
          <a:xfrm>
            <a:off x="5997637" y="1594575"/>
            <a:ext cx="2611104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Sumario Executivo</a:t>
            </a:r>
            <a:endParaRPr dirty="0"/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2" name="Google Shape;310;p31">
            <a:extLst>
              <a:ext uri="{FF2B5EF4-FFF2-40B4-BE49-F238E27FC236}">
                <a16:creationId xmlns:a16="http://schemas.microsoft.com/office/drawing/2014/main" xmlns="" id="{D6B16D5A-3103-BABA-1265-FDCEE2263CA7}"/>
              </a:ext>
            </a:extLst>
          </p:cNvPr>
          <p:cNvSpPr txBox="1">
            <a:spLocks/>
          </p:cNvSpPr>
          <p:nvPr/>
        </p:nvSpPr>
        <p:spPr>
          <a:xfrm>
            <a:off x="720000" y="3495850"/>
            <a:ext cx="6561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2800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13" name="Google Shape;310;p31">
            <a:extLst>
              <a:ext uri="{FF2B5EF4-FFF2-40B4-BE49-F238E27FC236}">
                <a16:creationId xmlns:a16="http://schemas.microsoft.com/office/drawing/2014/main" xmlns="" id="{3FFBC001-F309-36DB-50D6-3CD06CF0C977}"/>
              </a:ext>
            </a:extLst>
          </p:cNvPr>
          <p:cNvSpPr txBox="1">
            <a:spLocks/>
          </p:cNvSpPr>
          <p:nvPr/>
        </p:nvSpPr>
        <p:spPr>
          <a:xfrm>
            <a:off x="3527049" y="3563445"/>
            <a:ext cx="6561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2800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en" dirty="0"/>
              <a:t>08</a:t>
            </a:r>
          </a:p>
        </p:txBody>
      </p:sp>
      <p:sp>
        <p:nvSpPr>
          <p:cNvPr id="14" name="Google Shape;310;p31">
            <a:extLst>
              <a:ext uri="{FF2B5EF4-FFF2-40B4-BE49-F238E27FC236}">
                <a16:creationId xmlns:a16="http://schemas.microsoft.com/office/drawing/2014/main" xmlns="" id="{37A4703E-806E-5AF7-0564-28625F386B3F}"/>
              </a:ext>
            </a:extLst>
          </p:cNvPr>
          <p:cNvSpPr txBox="1">
            <a:spLocks/>
          </p:cNvSpPr>
          <p:nvPr/>
        </p:nvSpPr>
        <p:spPr>
          <a:xfrm>
            <a:off x="6087596" y="3563445"/>
            <a:ext cx="6561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2800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en" dirty="0"/>
              <a:t>09</a:t>
            </a:r>
          </a:p>
        </p:txBody>
      </p:sp>
      <p:sp>
        <p:nvSpPr>
          <p:cNvPr id="15" name="Google Shape;318;p31">
            <a:extLst>
              <a:ext uri="{FF2B5EF4-FFF2-40B4-BE49-F238E27FC236}">
                <a16:creationId xmlns:a16="http://schemas.microsoft.com/office/drawing/2014/main" xmlns="" id="{8862CC85-A98D-63FE-4A89-32CC9A5CB379}"/>
              </a:ext>
            </a:extLst>
          </p:cNvPr>
          <p:cNvSpPr txBox="1">
            <a:spLocks/>
          </p:cNvSpPr>
          <p:nvPr/>
        </p:nvSpPr>
        <p:spPr>
          <a:xfrm>
            <a:off x="720000" y="4003319"/>
            <a:ext cx="2423100" cy="4389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pt-BR" dirty="0"/>
              <a:t>Plano operacional</a:t>
            </a:r>
          </a:p>
        </p:txBody>
      </p:sp>
      <p:sp>
        <p:nvSpPr>
          <p:cNvPr id="16" name="Google Shape;318;p31">
            <a:extLst>
              <a:ext uri="{FF2B5EF4-FFF2-40B4-BE49-F238E27FC236}">
                <a16:creationId xmlns:a16="http://schemas.microsoft.com/office/drawing/2014/main" xmlns="" id="{E73F8BD2-39C4-EBAE-52A7-843F6D6471E9}"/>
              </a:ext>
            </a:extLst>
          </p:cNvPr>
          <p:cNvSpPr txBox="1">
            <a:spLocks/>
          </p:cNvSpPr>
          <p:nvPr/>
        </p:nvSpPr>
        <p:spPr>
          <a:xfrm>
            <a:off x="3359125" y="3994344"/>
            <a:ext cx="2423100" cy="4389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pt-BR" dirty="0"/>
              <a:t>Analise de F.O.F.A</a:t>
            </a:r>
          </a:p>
        </p:txBody>
      </p:sp>
      <p:sp>
        <p:nvSpPr>
          <p:cNvPr id="17" name="Google Shape;318;p31">
            <a:extLst>
              <a:ext uri="{FF2B5EF4-FFF2-40B4-BE49-F238E27FC236}">
                <a16:creationId xmlns:a16="http://schemas.microsoft.com/office/drawing/2014/main" xmlns="" id="{61CD9298-AFE5-2A6E-3205-5B114C6BC66C}"/>
              </a:ext>
            </a:extLst>
          </p:cNvPr>
          <p:cNvSpPr txBox="1">
            <a:spLocks/>
          </p:cNvSpPr>
          <p:nvPr/>
        </p:nvSpPr>
        <p:spPr>
          <a:xfrm>
            <a:off x="6120358" y="3992994"/>
            <a:ext cx="2423100" cy="4389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pt-BR" dirty="0"/>
              <a:t>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2947383" y="667698"/>
            <a:ext cx="3089144" cy="676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 smtClean="0">
                <a:solidFill>
                  <a:schemeClr val="bg2"/>
                </a:solidFill>
                <a:latin typeface="Quicksand" panose="020B0604020202020204" charset="0"/>
              </a:rPr>
              <a:t>INTRODUÇÃO</a:t>
            </a:r>
            <a:endParaRPr lang="pt-BR" sz="2400" b="1" dirty="0">
              <a:solidFill>
                <a:schemeClr val="bg2"/>
              </a:solidFill>
              <a:latin typeface="Quicksand" panose="020B0604020202020204" charset="0"/>
            </a:endParaRPr>
          </a:p>
        </p:txBody>
      </p:sp>
      <p:sp>
        <p:nvSpPr>
          <p:cNvPr id="354" name="Google Shape;354;p34"/>
          <p:cNvSpPr txBox="1">
            <a:spLocks noGrp="1"/>
          </p:cNvSpPr>
          <p:nvPr>
            <p:ph type="title"/>
          </p:nvPr>
        </p:nvSpPr>
        <p:spPr>
          <a:xfrm>
            <a:off x="790920" y="2967626"/>
            <a:ext cx="7666235" cy="53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 rtl="0">
              <a:spcBef>
                <a:spcPts val="1200"/>
              </a:spcBef>
              <a:spcAft>
                <a:spcPts val="1200"/>
              </a:spcAft>
            </a:pP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+mn-lt"/>
              </a:rPr>
              <a:t>presente Trabalho de Conclusão de Curso (TCC), intitulado Plano de Negócios, tem como objetivo apresentar uma análise detalhada sobre a viabilidade da abertura de uma loja de doces na cidade de Barra. </a:t>
            </a:r>
            <a:br>
              <a:rPr lang="pt-BR" sz="1600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+mn-lt"/>
              </a:rPr>
              <a:t/>
            </a:r>
            <a:br>
              <a:rPr lang="pt-BR" sz="1600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+mn-lt"/>
              </a:rPr>
              <a:t>Motivado pelo crescimento do mercado de confeitaria e pelo interesse em empreendedorismo, este projeto busca explorar as oportunidades de um setor em expansão, que atrai consumidores em busca de produtos diferenciados e de qualidade.</a:t>
            </a:r>
            <a:r>
              <a:rPr lang="pt-BR" sz="1600" b="0" dirty="0">
                <a:effectLst/>
                <a:latin typeface="+mn-lt"/>
              </a:rPr>
              <a:t/>
            </a:r>
            <a:br>
              <a:rPr lang="pt-BR" sz="1600" b="0" dirty="0">
                <a:effectLst/>
                <a:latin typeface="+mn-lt"/>
              </a:rPr>
            </a:br>
            <a:r>
              <a:rPr lang="pt-BR" sz="1600" b="0" dirty="0">
                <a:effectLst/>
                <a:latin typeface="+mn-lt"/>
              </a:rPr>
              <a:t/>
            </a:r>
            <a:br>
              <a:rPr lang="pt-BR" sz="1600" b="0" dirty="0">
                <a:effectLst/>
                <a:latin typeface="+mn-lt"/>
              </a:rPr>
            </a:br>
            <a:endParaRPr sz="1400" b="0" dirty="0">
              <a:solidFill>
                <a:schemeClr val="bg1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bg1">
                    <a:lumMod val="10000"/>
                  </a:schemeClr>
                </a:solidFill>
              </a:rPr>
              <a:t>3</a:t>
            </a:fld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356" name="Google Shape;356;p34"/>
          <p:cNvCxnSpPr/>
          <p:nvPr/>
        </p:nvCxnSpPr>
        <p:spPr>
          <a:xfrm rot="10800000" flipH="1">
            <a:off x="2605189" y="4607752"/>
            <a:ext cx="4037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57" name="Google Shape;357;p34"/>
          <p:cNvCxnSpPr/>
          <p:nvPr/>
        </p:nvCxnSpPr>
        <p:spPr>
          <a:xfrm rot="10800000" flipH="1">
            <a:off x="2553150" y="529052"/>
            <a:ext cx="4037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 txBox="1">
            <a:spLocks noGrp="1"/>
          </p:cNvSpPr>
          <p:nvPr>
            <p:ph type="subTitle" idx="1"/>
          </p:nvPr>
        </p:nvSpPr>
        <p:spPr>
          <a:xfrm>
            <a:off x="862360" y="1773554"/>
            <a:ext cx="7634868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pt-BR" sz="14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Identificar como uma nova loja de doces na cidade irá se diferenciar das outras empresas.</a:t>
            </a:r>
          </a:p>
        </p:txBody>
      </p:sp>
      <p:sp>
        <p:nvSpPr>
          <p:cNvPr id="372" name="Google Shape;372;p36"/>
          <p:cNvSpPr txBox="1">
            <a:spLocks noGrp="1"/>
          </p:cNvSpPr>
          <p:nvPr>
            <p:ph type="subTitle" idx="3"/>
          </p:nvPr>
        </p:nvSpPr>
        <p:spPr>
          <a:xfrm>
            <a:off x="862361" y="2594151"/>
            <a:ext cx="7634866" cy="4287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pt-BR" sz="14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Elencar os principais doces artesanais do município</a:t>
            </a:r>
            <a:r>
              <a:rPr lang="pt-BR" sz="16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</p:txBody>
      </p:sp>
      <p:sp>
        <p:nvSpPr>
          <p:cNvPr id="373" name="Google Shape;373;p36"/>
          <p:cNvSpPr txBox="1">
            <a:spLocks noGrp="1"/>
          </p:cNvSpPr>
          <p:nvPr>
            <p:ph type="title" idx="4"/>
          </p:nvPr>
        </p:nvSpPr>
        <p:spPr>
          <a:xfrm>
            <a:off x="2128460" y="553492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 smtClean="0">
                <a:solidFill>
                  <a:schemeClr val="bg2"/>
                </a:solidFill>
              </a:rPr>
              <a:t>OBJETIVOS</a:t>
            </a:r>
            <a:endParaRPr lang="pt-BR" sz="2400" dirty="0">
              <a:solidFill>
                <a:schemeClr val="bg2"/>
              </a:solidFill>
            </a:endParaRPr>
          </a:p>
        </p:txBody>
      </p:sp>
      <p:sp>
        <p:nvSpPr>
          <p:cNvPr id="374" name="Google Shape;374;p36"/>
          <p:cNvSpPr txBox="1">
            <a:spLocks noGrp="1"/>
          </p:cNvSpPr>
          <p:nvPr>
            <p:ph type="subTitle" idx="5"/>
          </p:nvPr>
        </p:nvSpPr>
        <p:spPr>
          <a:xfrm>
            <a:off x="862360" y="3558927"/>
            <a:ext cx="7634867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endParaRPr lang="pt-BR" sz="1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pt-BR" sz="14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Determinar as maiores dificuldades de uma nova loja de doces.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5" name="Google Shape;375;p3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48055841-5D00-6789-9315-84E88E773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053" y="553492"/>
            <a:ext cx="758256" cy="4953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75786" y="2389372"/>
            <a:ext cx="8252258" cy="11079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 smtClean="0">
                <a:solidFill>
                  <a:schemeClr val="bg2"/>
                </a:solidFill>
                <a:effectLst/>
                <a:latin typeface="Quicksand" panose="020B0604020202020204" charset="0"/>
                <a:ea typeface="Arial" panose="020B0604020202020204" pitchFamily="34" charset="0"/>
              </a:rPr>
              <a:t>Principais pontos</a:t>
            </a:r>
            <a:r>
              <a:rPr lang="pt-BR" sz="1600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/>
            </a:r>
            <a:br>
              <a:rPr lang="pt-BR" sz="1600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pt-BR" sz="1600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 confeitaria Encanto Doce é uma loja de doces, que será localizada no centro da cidade de Barra - BA, o que levou em consideração a grande movimentação de pessoas e que não há muitos lugares que oferecem doces que trabalham com pronta entrega</a:t>
            </a:r>
            <a:r>
              <a:rPr lang="pt-BR" sz="2000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</a:t>
            </a:r>
            <a:endParaRPr sz="2000" b="0"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0" y="619800"/>
            <a:ext cx="8794595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algn="ctr">
              <a:lnSpc>
                <a:spcPct val="150000"/>
              </a:lnSpc>
            </a:pPr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     </a:t>
            </a:r>
            <a:r>
              <a:rPr lang="pt-BR" sz="2800" b="1" dirty="0" smtClean="0">
                <a:solidFill>
                  <a:schemeClr val="bg2"/>
                </a:solidFill>
                <a:effectLst/>
                <a:latin typeface="Quicksand" panose="020B0604020202020204" charset="0"/>
                <a:ea typeface="Arial" panose="020B0604020202020204" pitchFamily="34" charset="0"/>
              </a:rPr>
              <a:t>SUMARIO EXECUTIVO</a:t>
            </a:r>
            <a:endParaRPr lang="pt-BR" sz="2800" b="1" dirty="0">
              <a:solidFill>
                <a:schemeClr val="bg2"/>
              </a:solidFill>
              <a:effectLst/>
              <a:latin typeface="Quicksand" panose="020B0604020202020204" charset="0"/>
              <a:ea typeface="Arial" panose="020B0604020202020204" pitchFamily="34" charset="0"/>
            </a:endParaRPr>
          </a:p>
          <a:p>
            <a:r>
              <a:rPr lang="pt-BR" sz="1600" dirty="0"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r>
              <a:rPr lang="pt-BR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 Encanto Doce é uma loja de confeitaria onde é dedicada a oferecer várias variedades de doces para atender a demanda do mercado, já que houve um grande aumento na área. </a:t>
            </a:r>
            <a:endParaRPr sz="1600"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ldNum" idx="12"/>
          </p:nvPr>
        </p:nvSpPr>
        <p:spPr>
          <a:xfrm>
            <a:off x="4297650" y="4653818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F202A03F-6F00-2E51-547D-B134F8DBCA8C}"/>
              </a:ext>
            </a:extLst>
          </p:cNvPr>
          <p:cNvSpPr txBox="1"/>
          <p:nvPr/>
        </p:nvSpPr>
        <p:spPr>
          <a:xfrm>
            <a:off x="475786" y="3497368"/>
            <a:ext cx="80660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bg2"/>
                </a:solidFill>
                <a:effectLst/>
                <a:latin typeface="Quicksand" panose="020B0604020202020204" charset="0"/>
                <a:ea typeface="Arial" panose="020B0604020202020204" pitchFamily="34" charset="0"/>
              </a:rPr>
              <a:t>Setores de atividade </a:t>
            </a:r>
            <a:r>
              <a:rPr lang="pt-BR" sz="1600" b="1" dirty="0">
                <a:effectLst/>
                <a:latin typeface="Quicksand" panose="020B0604020202020204" charset="0"/>
                <a:ea typeface="Arial" panose="020B0604020202020204" pitchFamily="34" charset="0"/>
              </a:rPr>
              <a:t> </a:t>
            </a:r>
            <a:endParaRPr lang="pt-BR" sz="1600" dirty="0">
              <a:effectLst/>
              <a:latin typeface="Quicksand" panose="020B0604020202020204" charset="0"/>
              <a:ea typeface="Arial" panose="020B0604020202020204" pitchFamily="34" charset="0"/>
            </a:endParaRPr>
          </a:p>
          <a:p>
            <a:pPr algn="just"/>
            <a:r>
              <a:rPr lang="pt-BR" sz="1600" dirty="0">
                <a:solidFill>
                  <a:schemeClr val="tx1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 Encanto Doce é uma empresa do setor de comércio alimentício, acentuada em Microempreendedor Individual – MEI. </a:t>
            </a:r>
            <a:endParaRPr lang="pt-BR" sz="16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2"/>
          <p:cNvSpPr txBox="1">
            <a:spLocks noGrp="1"/>
          </p:cNvSpPr>
          <p:nvPr>
            <p:ph type="subTitle" idx="1"/>
          </p:nvPr>
        </p:nvSpPr>
        <p:spPr>
          <a:xfrm>
            <a:off x="5205700" y="1514810"/>
            <a:ext cx="2809564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 visão da Encanto Doce é se tornar referência no mercado atual como a melhor doceira em Barra</a:t>
            </a:r>
            <a:endParaRPr b="1" dirty="0"/>
          </a:p>
        </p:txBody>
      </p:sp>
      <p:sp>
        <p:nvSpPr>
          <p:cNvPr id="465" name="Google Shape;465;p42"/>
          <p:cNvSpPr txBox="1">
            <a:spLocks noGrp="1"/>
          </p:cNvSpPr>
          <p:nvPr>
            <p:ph type="subTitle" idx="3"/>
          </p:nvPr>
        </p:nvSpPr>
        <p:spPr>
          <a:xfrm>
            <a:off x="5341434" y="3710873"/>
            <a:ext cx="2665596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Qualidade nos produtos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Comprometimento com os clientes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b="1" dirty="0">
                <a:latin typeface="Arial" panose="020B0604020202020204" pitchFamily="34" charset="0"/>
              </a:rPr>
              <a:t>Ética</a:t>
            </a:r>
            <a:endParaRPr b="1" dirty="0"/>
          </a:p>
        </p:txBody>
      </p:sp>
      <p:sp>
        <p:nvSpPr>
          <p:cNvPr id="466" name="Google Shape;466;p42"/>
          <p:cNvSpPr txBox="1">
            <a:spLocks noGrp="1"/>
          </p:cNvSpPr>
          <p:nvPr>
            <p:ph type="subTitle" idx="4"/>
          </p:nvPr>
        </p:nvSpPr>
        <p:spPr>
          <a:xfrm>
            <a:off x="5826641" y="1063462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Visão</a:t>
            </a: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67" name="Google Shape;467;p42"/>
          <p:cNvSpPr txBox="1">
            <a:spLocks noGrp="1"/>
          </p:cNvSpPr>
          <p:nvPr>
            <p:ph type="subTitle" idx="5"/>
          </p:nvPr>
        </p:nvSpPr>
        <p:spPr>
          <a:xfrm>
            <a:off x="937625" y="2202547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Missão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468" name="Google Shape;468;p42"/>
          <p:cNvSpPr txBox="1">
            <a:spLocks noGrp="1"/>
          </p:cNvSpPr>
          <p:nvPr>
            <p:ph type="subTitle" idx="6"/>
          </p:nvPr>
        </p:nvSpPr>
        <p:spPr>
          <a:xfrm>
            <a:off x="5841491" y="3217399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Valores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469" name="Google Shape;469;p4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70" name="Google Shape;470;p42"/>
          <p:cNvSpPr/>
          <p:nvPr/>
        </p:nvSpPr>
        <p:spPr>
          <a:xfrm>
            <a:off x="6759231" y="482293"/>
            <a:ext cx="310119" cy="481363"/>
          </a:xfrm>
          <a:custGeom>
            <a:avLst/>
            <a:gdLst/>
            <a:ahLst/>
            <a:cxnLst/>
            <a:rect l="l" t="t" r="r" b="b"/>
            <a:pathLst>
              <a:path w="7061" h="10960" extrusionOk="0">
                <a:moveTo>
                  <a:pt x="3906" y="5316"/>
                </a:moveTo>
                <a:cubicBezTo>
                  <a:pt x="4072" y="5316"/>
                  <a:pt x="4191" y="5447"/>
                  <a:pt x="4191" y="5602"/>
                </a:cubicBezTo>
                <a:cubicBezTo>
                  <a:pt x="4191" y="5757"/>
                  <a:pt x="4060" y="5876"/>
                  <a:pt x="3906" y="5876"/>
                </a:cubicBezTo>
                <a:lnTo>
                  <a:pt x="3370" y="5876"/>
                </a:lnTo>
                <a:cubicBezTo>
                  <a:pt x="3215" y="5876"/>
                  <a:pt x="3096" y="5745"/>
                  <a:pt x="3096" y="5602"/>
                </a:cubicBezTo>
                <a:cubicBezTo>
                  <a:pt x="3096" y="5435"/>
                  <a:pt x="3227" y="5316"/>
                  <a:pt x="3370" y="5316"/>
                </a:cubicBezTo>
                <a:close/>
                <a:moveTo>
                  <a:pt x="5370" y="8459"/>
                </a:moveTo>
                <a:cubicBezTo>
                  <a:pt x="5430" y="8471"/>
                  <a:pt x="5489" y="8519"/>
                  <a:pt x="5489" y="8578"/>
                </a:cubicBezTo>
                <a:lnTo>
                  <a:pt x="5489" y="9317"/>
                </a:lnTo>
                <a:cubicBezTo>
                  <a:pt x="5489" y="9376"/>
                  <a:pt x="5430" y="9436"/>
                  <a:pt x="5370" y="9436"/>
                </a:cubicBezTo>
                <a:lnTo>
                  <a:pt x="1929" y="9436"/>
                </a:lnTo>
                <a:cubicBezTo>
                  <a:pt x="1870" y="9436"/>
                  <a:pt x="1810" y="9376"/>
                  <a:pt x="1810" y="9317"/>
                </a:cubicBezTo>
                <a:lnTo>
                  <a:pt x="1810" y="8578"/>
                </a:lnTo>
                <a:cubicBezTo>
                  <a:pt x="1810" y="8519"/>
                  <a:pt x="1870" y="8459"/>
                  <a:pt x="1929" y="8459"/>
                </a:cubicBezTo>
                <a:close/>
                <a:moveTo>
                  <a:pt x="3645" y="0"/>
                </a:moveTo>
                <a:cubicBezTo>
                  <a:pt x="3527" y="0"/>
                  <a:pt x="3411" y="54"/>
                  <a:pt x="3346" y="161"/>
                </a:cubicBezTo>
                <a:lnTo>
                  <a:pt x="191" y="4792"/>
                </a:lnTo>
                <a:cubicBezTo>
                  <a:pt x="0" y="5078"/>
                  <a:pt x="36" y="5447"/>
                  <a:pt x="262" y="5685"/>
                </a:cubicBezTo>
                <a:lnTo>
                  <a:pt x="1762" y="7209"/>
                </a:lnTo>
                <a:cubicBezTo>
                  <a:pt x="1822" y="7269"/>
                  <a:pt x="1858" y="7340"/>
                  <a:pt x="1858" y="7412"/>
                </a:cubicBezTo>
                <a:lnTo>
                  <a:pt x="1858" y="8078"/>
                </a:lnTo>
                <a:cubicBezTo>
                  <a:pt x="1620" y="8114"/>
                  <a:pt x="1429" y="8317"/>
                  <a:pt x="1429" y="8578"/>
                </a:cubicBezTo>
                <a:lnTo>
                  <a:pt x="1429" y="9317"/>
                </a:lnTo>
                <a:cubicBezTo>
                  <a:pt x="1429" y="9602"/>
                  <a:pt x="1643" y="9829"/>
                  <a:pt x="1929" y="9829"/>
                </a:cubicBezTo>
                <a:lnTo>
                  <a:pt x="2155" y="9829"/>
                </a:lnTo>
                <a:lnTo>
                  <a:pt x="2155" y="10472"/>
                </a:lnTo>
                <a:cubicBezTo>
                  <a:pt x="2155" y="10734"/>
                  <a:pt x="2358" y="10960"/>
                  <a:pt x="2632" y="10960"/>
                </a:cubicBezTo>
                <a:lnTo>
                  <a:pt x="3179" y="10960"/>
                </a:lnTo>
                <a:cubicBezTo>
                  <a:pt x="3286" y="10960"/>
                  <a:pt x="3370" y="10864"/>
                  <a:pt x="3370" y="10757"/>
                </a:cubicBezTo>
                <a:cubicBezTo>
                  <a:pt x="3370" y="10662"/>
                  <a:pt x="3286" y="10567"/>
                  <a:pt x="3179" y="10567"/>
                </a:cubicBezTo>
                <a:lnTo>
                  <a:pt x="2632" y="10567"/>
                </a:lnTo>
                <a:cubicBezTo>
                  <a:pt x="2584" y="10567"/>
                  <a:pt x="2536" y="10519"/>
                  <a:pt x="2536" y="10483"/>
                </a:cubicBezTo>
                <a:lnTo>
                  <a:pt x="2536" y="9829"/>
                </a:lnTo>
                <a:lnTo>
                  <a:pt x="4763" y="9829"/>
                </a:lnTo>
                <a:lnTo>
                  <a:pt x="4763" y="10483"/>
                </a:lnTo>
                <a:cubicBezTo>
                  <a:pt x="4763" y="10519"/>
                  <a:pt x="4715" y="10567"/>
                  <a:pt x="4668" y="10567"/>
                </a:cubicBezTo>
                <a:lnTo>
                  <a:pt x="4072" y="10567"/>
                </a:lnTo>
                <a:cubicBezTo>
                  <a:pt x="3965" y="10567"/>
                  <a:pt x="3882" y="10662"/>
                  <a:pt x="3882" y="10757"/>
                </a:cubicBezTo>
                <a:cubicBezTo>
                  <a:pt x="3882" y="10864"/>
                  <a:pt x="3965" y="10960"/>
                  <a:pt x="4072" y="10960"/>
                </a:cubicBezTo>
                <a:lnTo>
                  <a:pt x="4668" y="10960"/>
                </a:lnTo>
                <a:cubicBezTo>
                  <a:pt x="4918" y="10960"/>
                  <a:pt x="5144" y="10745"/>
                  <a:pt x="5144" y="10472"/>
                </a:cubicBezTo>
                <a:lnTo>
                  <a:pt x="5144" y="9829"/>
                </a:lnTo>
                <a:lnTo>
                  <a:pt x="5370" y="9829"/>
                </a:lnTo>
                <a:cubicBezTo>
                  <a:pt x="5656" y="9829"/>
                  <a:pt x="5870" y="9602"/>
                  <a:pt x="5870" y="9317"/>
                </a:cubicBezTo>
                <a:lnTo>
                  <a:pt x="5870" y="8578"/>
                </a:lnTo>
                <a:cubicBezTo>
                  <a:pt x="5870" y="8317"/>
                  <a:pt x="5680" y="8114"/>
                  <a:pt x="5441" y="8078"/>
                </a:cubicBezTo>
                <a:lnTo>
                  <a:pt x="5441" y="7412"/>
                </a:lnTo>
                <a:cubicBezTo>
                  <a:pt x="5441" y="7340"/>
                  <a:pt x="5477" y="7269"/>
                  <a:pt x="5537" y="7209"/>
                </a:cubicBezTo>
                <a:lnTo>
                  <a:pt x="6977" y="5745"/>
                </a:lnTo>
                <a:cubicBezTo>
                  <a:pt x="7049" y="5673"/>
                  <a:pt x="7049" y="5554"/>
                  <a:pt x="6977" y="5483"/>
                </a:cubicBezTo>
                <a:cubicBezTo>
                  <a:pt x="6942" y="5441"/>
                  <a:pt x="6894" y="5420"/>
                  <a:pt x="6845" y="5420"/>
                </a:cubicBezTo>
                <a:cubicBezTo>
                  <a:pt x="6796" y="5420"/>
                  <a:pt x="6745" y="5441"/>
                  <a:pt x="6703" y="5483"/>
                </a:cubicBezTo>
                <a:lnTo>
                  <a:pt x="5263" y="6935"/>
                </a:lnTo>
                <a:cubicBezTo>
                  <a:pt x="5132" y="7066"/>
                  <a:pt x="5072" y="7233"/>
                  <a:pt x="5072" y="7412"/>
                </a:cubicBezTo>
                <a:lnTo>
                  <a:pt x="5072" y="8067"/>
                </a:lnTo>
                <a:lnTo>
                  <a:pt x="2262" y="8067"/>
                </a:lnTo>
                <a:lnTo>
                  <a:pt x="2262" y="7412"/>
                </a:lnTo>
                <a:cubicBezTo>
                  <a:pt x="2262" y="7233"/>
                  <a:pt x="2179" y="7054"/>
                  <a:pt x="2060" y="6935"/>
                </a:cubicBezTo>
                <a:lnTo>
                  <a:pt x="560" y="5423"/>
                </a:lnTo>
                <a:cubicBezTo>
                  <a:pt x="453" y="5316"/>
                  <a:pt x="441" y="5138"/>
                  <a:pt x="536" y="5019"/>
                </a:cubicBezTo>
                <a:lnTo>
                  <a:pt x="3477" y="685"/>
                </a:lnTo>
                <a:lnTo>
                  <a:pt x="3477" y="4923"/>
                </a:lnTo>
                <a:lnTo>
                  <a:pt x="3405" y="4923"/>
                </a:lnTo>
                <a:cubicBezTo>
                  <a:pt x="3036" y="4923"/>
                  <a:pt x="2739" y="5221"/>
                  <a:pt x="2739" y="5602"/>
                </a:cubicBezTo>
                <a:cubicBezTo>
                  <a:pt x="2739" y="5971"/>
                  <a:pt x="3036" y="6269"/>
                  <a:pt x="3405" y="6269"/>
                </a:cubicBezTo>
                <a:lnTo>
                  <a:pt x="3941" y="6269"/>
                </a:lnTo>
                <a:cubicBezTo>
                  <a:pt x="4310" y="6269"/>
                  <a:pt x="4608" y="5971"/>
                  <a:pt x="4608" y="5602"/>
                </a:cubicBezTo>
                <a:cubicBezTo>
                  <a:pt x="4608" y="5221"/>
                  <a:pt x="4310" y="4923"/>
                  <a:pt x="3941" y="4923"/>
                </a:cubicBezTo>
                <a:lnTo>
                  <a:pt x="3870" y="4923"/>
                </a:lnTo>
                <a:lnTo>
                  <a:pt x="3870" y="685"/>
                </a:lnTo>
                <a:lnTo>
                  <a:pt x="6692" y="4840"/>
                </a:lnTo>
                <a:cubicBezTo>
                  <a:pt x="6727" y="4889"/>
                  <a:pt x="6783" y="4918"/>
                  <a:pt x="6843" y="4918"/>
                </a:cubicBezTo>
                <a:cubicBezTo>
                  <a:pt x="6884" y="4918"/>
                  <a:pt x="6927" y="4905"/>
                  <a:pt x="6965" y="4876"/>
                </a:cubicBezTo>
                <a:cubicBezTo>
                  <a:pt x="7049" y="4816"/>
                  <a:pt x="7061" y="4697"/>
                  <a:pt x="7001" y="4614"/>
                </a:cubicBezTo>
                <a:lnTo>
                  <a:pt x="3953" y="161"/>
                </a:lnTo>
                <a:cubicBezTo>
                  <a:pt x="3882" y="54"/>
                  <a:pt x="3763" y="0"/>
                  <a:pt x="364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  <p:grpSp>
        <p:nvGrpSpPr>
          <p:cNvPr id="471" name="Google Shape;471;p42"/>
          <p:cNvGrpSpPr/>
          <p:nvPr/>
        </p:nvGrpSpPr>
        <p:grpSpPr>
          <a:xfrm>
            <a:off x="1829572" y="1544673"/>
            <a:ext cx="391405" cy="481391"/>
            <a:chOff x="5782845" y="2906521"/>
            <a:chExt cx="301661" cy="371014"/>
          </a:xfrm>
        </p:grpSpPr>
        <p:sp>
          <p:nvSpPr>
            <p:cNvPr id="472" name="Google Shape;472;p42"/>
            <p:cNvSpPr/>
            <p:nvPr/>
          </p:nvSpPr>
          <p:spPr>
            <a:xfrm>
              <a:off x="5782845" y="3087652"/>
              <a:ext cx="301661" cy="189883"/>
            </a:xfrm>
            <a:custGeom>
              <a:avLst/>
              <a:gdLst/>
              <a:ahLst/>
              <a:cxnLst/>
              <a:rect l="l" t="t" r="r" b="b"/>
              <a:pathLst>
                <a:path w="9478" h="5966" extrusionOk="0">
                  <a:moveTo>
                    <a:pt x="3215" y="322"/>
                  </a:moveTo>
                  <a:cubicBezTo>
                    <a:pt x="3322" y="322"/>
                    <a:pt x="3418" y="370"/>
                    <a:pt x="3489" y="429"/>
                  </a:cubicBezTo>
                  <a:cubicBezTo>
                    <a:pt x="3561" y="513"/>
                    <a:pt x="3596" y="596"/>
                    <a:pt x="3596" y="703"/>
                  </a:cubicBezTo>
                  <a:lnTo>
                    <a:pt x="3596" y="1156"/>
                  </a:lnTo>
                  <a:cubicBezTo>
                    <a:pt x="3608" y="1358"/>
                    <a:pt x="3501" y="1537"/>
                    <a:pt x="3322" y="1644"/>
                  </a:cubicBezTo>
                  <a:cubicBezTo>
                    <a:pt x="3263" y="1668"/>
                    <a:pt x="3239" y="1727"/>
                    <a:pt x="3239" y="1787"/>
                  </a:cubicBezTo>
                  <a:lnTo>
                    <a:pt x="3239" y="1977"/>
                  </a:lnTo>
                  <a:lnTo>
                    <a:pt x="2846" y="1977"/>
                  </a:lnTo>
                  <a:lnTo>
                    <a:pt x="2846" y="1787"/>
                  </a:lnTo>
                  <a:cubicBezTo>
                    <a:pt x="2846" y="1727"/>
                    <a:pt x="2822" y="1668"/>
                    <a:pt x="2763" y="1644"/>
                  </a:cubicBezTo>
                  <a:cubicBezTo>
                    <a:pt x="2584" y="1537"/>
                    <a:pt x="2477" y="1358"/>
                    <a:pt x="2477" y="1156"/>
                  </a:cubicBezTo>
                  <a:lnTo>
                    <a:pt x="2477" y="703"/>
                  </a:lnTo>
                  <a:cubicBezTo>
                    <a:pt x="2477" y="489"/>
                    <a:pt x="2644" y="322"/>
                    <a:pt x="2846" y="322"/>
                  </a:cubicBezTo>
                  <a:close/>
                  <a:moveTo>
                    <a:pt x="6513" y="322"/>
                  </a:moveTo>
                  <a:cubicBezTo>
                    <a:pt x="6609" y="322"/>
                    <a:pt x="6704" y="370"/>
                    <a:pt x="6775" y="429"/>
                  </a:cubicBezTo>
                  <a:cubicBezTo>
                    <a:pt x="6847" y="513"/>
                    <a:pt x="6882" y="596"/>
                    <a:pt x="6882" y="703"/>
                  </a:cubicBezTo>
                  <a:lnTo>
                    <a:pt x="6882" y="1156"/>
                  </a:lnTo>
                  <a:cubicBezTo>
                    <a:pt x="6894" y="1358"/>
                    <a:pt x="6787" y="1537"/>
                    <a:pt x="6609" y="1644"/>
                  </a:cubicBezTo>
                  <a:cubicBezTo>
                    <a:pt x="6549" y="1668"/>
                    <a:pt x="6525" y="1727"/>
                    <a:pt x="6525" y="1787"/>
                  </a:cubicBezTo>
                  <a:lnTo>
                    <a:pt x="6525" y="1977"/>
                  </a:lnTo>
                  <a:lnTo>
                    <a:pt x="6132" y="1977"/>
                  </a:lnTo>
                  <a:lnTo>
                    <a:pt x="6132" y="1787"/>
                  </a:lnTo>
                  <a:cubicBezTo>
                    <a:pt x="6132" y="1727"/>
                    <a:pt x="6108" y="1668"/>
                    <a:pt x="6049" y="1644"/>
                  </a:cubicBezTo>
                  <a:cubicBezTo>
                    <a:pt x="5870" y="1537"/>
                    <a:pt x="5763" y="1358"/>
                    <a:pt x="5763" y="1156"/>
                  </a:cubicBezTo>
                  <a:lnTo>
                    <a:pt x="5763" y="703"/>
                  </a:lnTo>
                  <a:cubicBezTo>
                    <a:pt x="5763" y="489"/>
                    <a:pt x="5930" y="322"/>
                    <a:pt x="6132" y="322"/>
                  </a:cubicBezTo>
                  <a:close/>
                  <a:moveTo>
                    <a:pt x="1572" y="2144"/>
                  </a:moveTo>
                  <a:cubicBezTo>
                    <a:pt x="1667" y="2144"/>
                    <a:pt x="1763" y="2192"/>
                    <a:pt x="1834" y="2251"/>
                  </a:cubicBezTo>
                  <a:cubicBezTo>
                    <a:pt x="1906" y="2323"/>
                    <a:pt x="1941" y="2418"/>
                    <a:pt x="1941" y="2513"/>
                  </a:cubicBezTo>
                  <a:lnTo>
                    <a:pt x="1941" y="2977"/>
                  </a:lnTo>
                  <a:lnTo>
                    <a:pt x="1953" y="2977"/>
                  </a:lnTo>
                  <a:cubicBezTo>
                    <a:pt x="1953" y="3168"/>
                    <a:pt x="1846" y="3370"/>
                    <a:pt x="1667" y="3454"/>
                  </a:cubicBezTo>
                  <a:cubicBezTo>
                    <a:pt x="1608" y="3489"/>
                    <a:pt x="1584" y="3549"/>
                    <a:pt x="1584" y="3608"/>
                  </a:cubicBezTo>
                  <a:lnTo>
                    <a:pt x="1584" y="3799"/>
                  </a:lnTo>
                  <a:lnTo>
                    <a:pt x="1191" y="3799"/>
                  </a:lnTo>
                  <a:lnTo>
                    <a:pt x="1191" y="3608"/>
                  </a:lnTo>
                  <a:cubicBezTo>
                    <a:pt x="1191" y="3549"/>
                    <a:pt x="1167" y="3489"/>
                    <a:pt x="1108" y="3454"/>
                  </a:cubicBezTo>
                  <a:cubicBezTo>
                    <a:pt x="929" y="3346"/>
                    <a:pt x="822" y="3168"/>
                    <a:pt x="822" y="2977"/>
                  </a:cubicBezTo>
                  <a:lnTo>
                    <a:pt x="822" y="2513"/>
                  </a:lnTo>
                  <a:cubicBezTo>
                    <a:pt x="822" y="2311"/>
                    <a:pt x="989" y="2144"/>
                    <a:pt x="1191" y="2144"/>
                  </a:cubicBezTo>
                  <a:close/>
                  <a:moveTo>
                    <a:pt x="4858" y="2144"/>
                  </a:moveTo>
                  <a:cubicBezTo>
                    <a:pt x="4965" y="2144"/>
                    <a:pt x="5049" y="2192"/>
                    <a:pt x="5120" y="2251"/>
                  </a:cubicBezTo>
                  <a:cubicBezTo>
                    <a:pt x="5204" y="2323"/>
                    <a:pt x="5227" y="2418"/>
                    <a:pt x="5227" y="2513"/>
                  </a:cubicBezTo>
                  <a:lnTo>
                    <a:pt x="5227" y="2977"/>
                  </a:lnTo>
                  <a:cubicBezTo>
                    <a:pt x="5239" y="3168"/>
                    <a:pt x="5144" y="3370"/>
                    <a:pt x="4954" y="3454"/>
                  </a:cubicBezTo>
                  <a:cubicBezTo>
                    <a:pt x="4894" y="3489"/>
                    <a:pt x="4870" y="3549"/>
                    <a:pt x="4870" y="3608"/>
                  </a:cubicBezTo>
                  <a:lnTo>
                    <a:pt x="4870" y="3799"/>
                  </a:lnTo>
                  <a:lnTo>
                    <a:pt x="4489" y="3799"/>
                  </a:lnTo>
                  <a:lnTo>
                    <a:pt x="4489" y="3608"/>
                  </a:lnTo>
                  <a:cubicBezTo>
                    <a:pt x="4489" y="3549"/>
                    <a:pt x="4453" y="3489"/>
                    <a:pt x="4394" y="3454"/>
                  </a:cubicBezTo>
                  <a:cubicBezTo>
                    <a:pt x="4215" y="3346"/>
                    <a:pt x="4108" y="3168"/>
                    <a:pt x="4108" y="2977"/>
                  </a:cubicBezTo>
                  <a:lnTo>
                    <a:pt x="4108" y="2513"/>
                  </a:lnTo>
                  <a:cubicBezTo>
                    <a:pt x="4108" y="2311"/>
                    <a:pt x="4275" y="2144"/>
                    <a:pt x="4489" y="2144"/>
                  </a:cubicBezTo>
                  <a:close/>
                  <a:moveTo>
                    <a:pt x="8144" y="2144"/>
                  </a:moveTo>
                  <a:cubicBezTo>
                    <a:pt x="8252" y="2144"/>
                    <a:pt x="8335" y="2192"/>
                    <a:pt x="8418" y="2251"/>
                  </a:cubicBezTo>
                  <a:cubicBezTo>
                    <a:pt x="8490" y="2323"/>
                    <a:pt x="8514" y="2418"/>
                    <a:pt x="8514" y="2513"/>
                  </a:cubicBezTo>
                  <a:lnTo>
                    <a:pt x="8514" y="2977"/>
                  </a:lnTo>
                  <a:cubicBezTo>
                    <a:pt x="8525" y="3168"/>
                    <a:pt x="8430" y="3370"/>
                    <a:pt x="8252" y="3454"/>
                  </a:cubicBezTo>
                  <a:cubicBezTo>
                    <a:pt x="8192" y="3489"/>
                    <a:pt x="8156" y="3549"/>
                    <a:pt x="8156" y="3608"/>
                  </a:cubicBezTo>
                  <a:lnTo>
                    <a:pt x="8156" y="3799"/>
                  </a:lnTo>
                  <a:lnTo>
                    <a:pt x="7775" y="3799"/>
                  </a:lnTo>
                  <a:lnTo>
                    <a:pt x="7775" y="3608"/>
                  </a:lnTo>
                  <a:cubicBezTo>
                    <a:pt x="7775" y="3549"/>
                    <a:pt x="7740" y="3489"/>
                    <a:pt x="7680" y="3454"/>
                  </a:cubicBezTo>
                  <a:cubicBezTo>
                    <a:pt x="7501" y="3346"/>
                    <a:pt x="7406" y="3168"/>
                    <a:pt x="7406" y="2977"/>
                  </a:cubicBezTo>
                  <a:lnTo>
                    <a:pt x="7406" y="2513"/>
                  </a:lnTo>
                  <a:cubicBezTo>
                    <a:pt x="7406" y="2311"/>
                    <a:pt x="7561" y="2144"/>
                    <a:pt x="7775" y="2144"/>
                  </a:cubicBezTo>
                  <a:close/>
                  <a:moveTo>
                    <a:pt x="2894" y="1"/>
                  </a:moveTo>
                  <a:cubicBezTo>
                    <a:pt x="2489" y="1"/>
                    <a:pt x="2179" y="334"/>
                    <a:pt x="2179" y="715"/>
                  </a:cubicBezTo>
                  <a:lnTo>
                    <a:pt x="2179" y="1180"/>
                  </a:lnTo>
                  <a:cubicBezTo>
                    <a:pt x="2179" y="1465"/>
                    <a:pt x="2310" y="1727"/>
                    <a:pt x="2548" y="1894"/>
                  </a:cubicBezTo>
                  <a:lnTo>
                    <a:pt x="2548" y="2061"/>
                  </a:lnTo>
                  <a:lnTo>
                    <a:pt x="2251" y="2180"/>
                  </a:lnTo>
                  <a:cubicBezTo>
                    <a:pt x="2215" y="2120"/>
                    <a:pt x="2179" y="2072"/>
                    <a:pt x="2132" y="2025"/>
                  </a:cubicBezTo>
                  <a:cubicBezTo>
                    <a:pt x="2001" y="1894"/>
                    <a:pt x="1822" y="1822"/>
                    <a:pt x="1620" y="1822"/>
                  </a:cubicBezTo>
                  <a:lnTo>
                    <a:pt x="1251" y="1822"/>
                  </a:lnTo>
                  <a:cubicBezTo>
                    <a:pt x="846" y="1822"/>
                    <a:pt x="536" y="2144"/>
                    <a:pt x="536" y="2537"/>
                  </a:cubicBezTo>
                  <a:lnTo>
                    <a:pt x="536" y="2989"/>
                  </a:lnTo>
                  <a:cubicBezTo>
                    <a:pt x="536" y="3275"/>
                    <a:pt x="679" y="3549"/>
                    <a:pt x="905" y="3704"/>
                  </a:cubicBezTo>
                  <a:lnTo>
                    <a:pt x="905" y="3870"/>
                  </a:lnTo>
                  <a:lnTo>
                    <a:pt x="453" y="4049"/>
                  </a:lnTo>
                  <a:cubicBezTo>
                    <a:pt x="179" y="4156"/>
                    <a:pt x="1" y="4418"/>
                    <a:pt x="1" y="4716"/>
                  </a:cubicBezTo>
                  <a:lnTo>
                    <a:pt x="1" y="5811"/>
                  </a:lnTo>
                  <a:cubicBezTo>
                    <a:pt x="1" y="5894"/>
                    <a:pt x="84" y="5966"/>
                    <a:pt x="167" y="5966"/>
                  </a:cubicBezTo>
                  <a:cubicBezTo>
                    <a:pt x="251" y="5966"/>
                    <a:pt x="334" y="5894"/>
                    <a:pt x="334" y="5811"/>
                  </a:cubicBezTo>
                  <a:lnTo>
                    <a:pt x="334" y="4716"/>
                  </a:lnTo>
                  <a:cubicBezTo>
                    <a:pt x="334" y="4573"/>
                    <a:pt x="417" y="4418"/>
                    <a:pt x="572" y="4358"/>
                  </a:cubicBezTo>
                  <a:lnTo>
                    <a:pt x="1108" y="4156"/>
                  </a:lnTo>
                  <a:lnTo>
                    <a:pt x="1775" y="4156"/>
                  </a:lnTo>
                  <a:lnTo>
                    <a:pt x="2310" y="4358"/>
                  </a:lnTo>
                  <a:cubicBezTo>
                    <a:pt x="2453" y="4418"/>
                    <a:pt x="2548" y="4561"/>
                    <a:pt x="2548" y="4716"/>
                  </a:cubicBezTo>
                  <a:lnTo>
                    <a:pt x="2548" y="5811"/>
                  </a:lnTo>
                  <a:cubicBezTo>
                    <a:pt x="2548" y="5894"/>
                    <a:pt x="2620" y="5966"/>
                    <a:pt x="2715" y="5966"/>
                  </a:cubicBezTo>
                  <a:cubicBezTo>
                    <a:pt x="2799" y="5966"/>
                    <a:pt x="2870" y="5894"/>
                    <a:pt x="2870" y="5811"/>
                  </a:cubicBezTo>
                  <a:lnTo>
                    <a:pt x="2870" y="4716"/>
                  </a:lnTo>
                  <a:cubicBezTo>
                    <a:pt x="2870" y="4418"/>
                    <a:pt x="2691" y="4168"/>
                    <a:pt x="2429" y="4049"/>
                  </a:cubicBezTo>
                  <a:lnTo>
                    <a:pt x="1965" y="3870"/>
                  </a:lnTo>
                  <a:lnTo>
                    <a:pt x="1965" y="3704"/>
                  </a:lnTo>
                  <a:cubicBezTo>
                    <a:pt x="2191" y="3537"/>
                    <a:pt x="2334" y="3275"/>
                    <a:pt x="2334" y="2989"/>
                  </a:cubicBezTo>
                  <a:lnTo>
                    <a:pt x="2334" y="2537"/>
                  </a:lnTo>
                  <a:lnTo>
                    <a:pt x="2334" y="2501"/>
                  </a:lnTo>
                  <a:lnTo>
                    <a:pt x="2751" y="2334"/>
                  </a:lnTo>
                  <a:lnTo>
                    <a:pt x="3430" y="2334"/>
                  </a:lnTo>
                  <a:lnTo>
                    <a:pt x="3846" y="2501"/>
                  </a:lnTo>
                  <a:lnTo>
                    <a:pt x="3846" y="2537"/>
                  </a:lnTo>
                  <a:lnTo>
                    <a:pt x="3846" y="2989"/>
                  </a:lnTo>
                  <a:cubicBezTo>
                    <a:pt x="3846" y="3275"/>
                    <a:pt x="3977" y="3549"/>
                    <a:pt x="4215" y="3704"/>
                  </a:cubicBezTo>
                  <a:lnTo>
                    <a:pt x="4215" y="3870"/>
                  </a:lnTo>
                  <a:lnTo>
                    <a:pt x="3751" y="4049"/>
                  </a:lnTo>
                  <a:cubicBezTo>
                    <a:pt x="3489" y="4156"/>
                    <a:pt x="3310" y="4418"/>
                    <a:pt x="3310" y="4716"/>
                  </a:cubicBezTo>
                  <a:lnTo>
                    <a:pt x="3310" y="5811"/>
                  </a:lnTo>
                  <a:cubicBezTo>
                    <a:pt x="3310" y="5894"/>
                    <a:pt x="3382" y="5966"/>
                    <a:pt x="3465" y="5966"/>
                  </a:cubicBezTo>
                  <a:cubicBezTo>
                    <a:pt x="3561" y="5966"/>
                    <a:pt x="3632" y="5894"/>
                    <a:pt x="3632" y="5811"/>
                  </a:cubicBezTo>
                  <a:lnTo>
                    <a:pt x="3632" y="4716"/>
                  </a:lnTo>
                  <a:cubicBezTo>
                    <a:pt x="3632" y="4573"/>
                    <a:pt x="3727" y="4418"/>
                    <a:pt x="3870" y="4358"/>
                  </a:cubicBezTo>
                  <a:lnTo>
                    <a:pt x="4406" y="4156"/>
                  </a:lnTo>
                  <a:lnTo>
                    <a:pt x="5073" y="4156"/>
                  </a:lnTo>
                  <a:lnTo>
                    <a:pt x="5608" y="4358"/>
                  </a:lnTo>
                  <a:cubicBezTo>
                    <a:pt x="5763" y="4418"/>
                    <a:pt x="5847" y="4561"/>
                    <a:pt x="5847" y="4716"/>
                  </a:cubicBezTo>
                  <a:lnTo>
                    <a:pt x="5847" y="5811"/>
                  </a:lnTo>
                  <a:cubicBezTo>
                    <a:pt x="5847" y="5894"/>
                    <a:pt x="5930" y="5966"/>
                    <a:pt x="6013" y="5966"/>
                  </a:cubicBezTo>
                  <a:cubicBezTo>
                    <a:pt x="6108" y="5966"/>
                    <a:pt x="6180" y="5894"/>
                    <a:pt x="6180" y="5811"/>
                  </a:cubicBezTo>
                  <a:lnTo>
                    <a:pt x="6180" y="4716"/>
                  </a:lnTo>
                  <a:cubicBezTo>
                    <a:pt x="6180" y="4418"/>
                    <a:pt x="6001" y="4168"/>
                    <a:pt x="5727" y="4049"/>
                  </a:cubicBezTo>
                  <a:lnTo>
                    <a:pt x="5275" y="3870"/>
                  </a:lnTo>
                  <a:lnTo>
                    <a:pt x="5275" y="3704"/>
                  </a:lnTo>
                  <a:cubicBezTo>
                    <a:pt x="5489" y="3537"/>
                    <a:pt x="5644" y="3275"/>
                    <a:pt x="5644" y="2989"/>
                  </a:cubicBezTo>
                  <a:lnTo>
                    <a:pt x="5644" y="2537"/>
                  </a:lnTo>
                  <a:lnTo>
                    <a:pt x="5644" y="2501"/>
                  </a:lnTo>
                  <a:lnTo>
                    <a:pt x="6061" y="2334"/>
                  </a:lnTo>
                  <a:lnTo>
                    <a:pt x="6728" y="2334"/>
                  </a:lnTo>
                  <a:lnTo>
                    <a:pt x="7144" y="2501"/>
                  </a:lnTo>
                  <a:lnTo>
                    <a:pt x="7144" y="2537"/>
                  </a:lnTo>
                  <a:lnTo>
                    <a:pt x="7144" y="2989"/>
                  </a:lnTo>
                  <a:cubicBezTo>
                    <a:pt x="7144" y="3275"/>
                    <a:pt x="7275" y="3549"/>
                    <a:pt x="7513" y="3704"/>
                  </a:cubicBezTo>
                  <a:lnTo>
                    <a:pt x="7513" y="3870"/>
                  </a:lnTo>
                  <a:lnTo>
                    <a:pt x="7061" y="4049"/>
                  </a:lnTo>
                  <a:cubicBezTo>
                    <a:pt x="6787" y="4156"/>
                    <a:pt x="6609" y="4418"/>
                    <a:pt x="6609" y="4716"/>
                  </a:cubicBezTo>
                  <a:lnTo>
                    <a:pt x="6609" y="5811"/>
                  </a:lnTo>
                  <a:cubicBezTo>
                    <a:pt x="6609" y="5894"/>
                    <a:pt x="6680" y="5966"/>
                    <a:pt x="6775" y="5966"/>
                  </a:cubicBezTo>
                  <a:cubicBezTo>
                    <a:pt x="6859" y="5966"/>
                    <a:pt x="6942" y="5894"/>
                    <a:pt x="6942" y="5811"/>
                  </a:cubicBezTo>
                  <a:lnTo>
                    <a:pt x="6942" y="4716"/>
                  </a:lnTo>
                  <a:cubicBezTo>
                    <a:pt x="6942" y="4573"/>
                    <a:pt x="7025" y="4418"/>
                    <a:pt x="7180" y="4358"/>
                  </a:cubicBezTo>
                  <a:lnTo>
                    <a:pt x="7716" y="4156"/>
                  </a:lnTo>
                  <a:lnTo>
                    <a:pt x="8383" y="4156"/>
                  </a:lnTo>
                  <a:lnTo>
                    <a:pt x="8918" y="4358"/>
                  </a:lnTo>
                  <a:cubicBezTo>
                    <a:pt x="9061" y="4418"/>
                    <a:pt x="9156" y="4561"/>
                    <a:pt x="9156" y="4716"/>
                  </a:cubicBezTo>
                  <a:lnTo>
                    <a:pt x="9156" y="5811"/>
                  </a:lnTo>
                  <a:cubicBezTo>
                    <a:pt x="9156" y="5894"/>
                    <a:pt x="9228" y="5966"/>
                    <a:pt x="9323" y="5966"/>
                  </a:cubicBezTo>
                  <a:cubicBezTo>
                    <a:pt x="9406" y="5966"/>
                    <a:pt x="9478" y="5894"/>
                    <a:pt x="9478" y="5811"/>
                  </a:cubicBezTo>
                  <a:lnTo>
                    <a:pt x="9478" y="4716"/>
                  </a:lnTo>
                  <a:cubicBezTo>
                    <a:pt x="9418" y="4418"/>
                    <a:pt x="9252" y="4156"/>
                    <a:pt x="8978" y="4049"/>
                  </a:cubicBezTo>
                  <a:lnTo>
                    <a:pt x="8514" y="3870"/>
                  </a:lnTo>
                  <a:lnTo>
                    <a:pt x="8514" y="3704"/>
                  </a:lnTo>
                  <a:cubicBezTo>
                    <a:pt x="8740" y="3537"/>
                    <a:pt x="8895" y="3275"/>
                    <a:pt x="8895" y="2989"/>
                  </a:cubicBezTo>
                  <a:lnTo>
                    <a:pt x="8895" y="2537"/>
                  </a:lnTo>
                  <a:cubicBezTo>
                    <a:pt x="8895" y="2334"/>
                    <a:pt x="8811" y="2156"/>
                    <a:pt x="8680" y="2025"/>
                  </a:cubicBezTo>
                  <a:cubicBezTo>
                    <a:pt x="8549" y="1894"/>
                    <a:pt x="8371" y="1822"/>
                    <a:pt x="8168" y="1822"/>
                  </a:cubicBezTo>
                  <a:lnTo>
                    <a:pt x="7799" y="1822"/>
                  </a:lnTo>
                  <a:cubicBezTo>
                    <a:pt x="7537" y="1822"/>
                    <a:pt x="7311" y="1965"/>
                    <a:pt x="7192" y="2180"/>
                  </a:cubicBezTo>
                  <a:lnTo>
                    <a:pt x="6882" y="2061"/>
                  </a:lnTo>
                  <a:lnTo>
                    <a:pt x="6882" y="1894"/>
                  </a:lnTo>
                  <a:cubicBezTo>
                    <a:pt x="7109" y="1727"/>
                    <a:pt x="7251" y="1465"/>
                    <a:pt x="7251" y="1180"/>
                  </a:cubicBezTo>
                  <a:lnTo>
                    <a:pt x="7251" y="715"/>
                  </a:lnTo>
                  <a:cubicBezTo>
                    <a:pt x="7251" y="525"/>
                    <a:pt x="7180" y="346"/>
                    <a:pt x="7037" y="215"/>
                  </a:cubicBezTo>
                  <a:cubicBezTo>
                    <a:pt x="6906" y="72"/>
                    <a:pt x="6728" y="1"/>
                    <a:pt x="6537" y="1"/>
                  </a:cubicBezTo>
                  <a:lnTo>
                    <a:pt x="6168" y="1"/>
                  </a:lnTo>
                  <a:cubicBezTo>
                    <a:pt x="5763" y="1"/>
                    <a:pt x="5454" y="334"/>
                    <a:pt x="5454" y="715"/>
                  </a:cubicBezTo>
                  <a:lnTo>
                    <a:pt x="5454" y="1180"/>
                  </a:lnTo>
                  <a:cubicBezTo>
                    <a:pt x="5454" y="1465"/>
                    <a:pt x="5585" y="1727"/>
                    <a:pt x="5823" y="1894"/>
                  </a:cubicBezTo>
                  <a:lnTo>
                    <a:pt x="5823" y="2061"/>
                  </a:lnTo>
                  <a:lnTo>
                    <a:pt x="5525" y="2180"/>
                  </a:lnTo>
                  <a:cubicBezTo>
                    <a:pt x="5489" y="2120"/>
                    <a:pt x="5454" y="2072"/>
                    <a:pt x="5406" y="2025"/>
                  </a:cubicBezTo>
                  <a:cubicBezTo>
                    <a:pt x="5275" y="1894"/>
                    <a:pt x="5096" y="1822"/>
                    <a:pt x="4894" y="1822"/>
                  </a:cubicBezTo>
                  <a:lnTo>
                    <a:pt x="4525" y="1822"/>
                  </a:lnTo>
                  <a:cubicBezTo>
                    <a:pt x="4263" y="1822"/>
                    <a:pt x="4037" y="1965"/>
                    <a:pt x="3918" y="2180"/>
                  </a:cubicBezTo>
                  <a:lnTo>
                    <a:pt x="3608" y="2061"/>
                  </a:lnTo>
                  <a:lnTo>
                    <a:pt x="3608" y="1894"/>
                  </a:lnTo>
                  <a:cubicBezTo>
                    <a:pt x="3834" y="1727"/>
                    <a:pt x="3977" y="1465"/>
                    <a:pt x="3977" y="1180"/>
                  </a:cubicBezTo>
                  <a:lnTo>
                    <a:pt x="3977" y="715"/>
                  </a:lnTo>
                  <a:cubicBezTo>
                    <a:pt x="3977" y="525"/>
                    <a:pt x="3906" y="346"/>
                    <a:pt x="3763" y="215"/>
                  </a:cubicBezTo>
                  <a:cubicBezTo>
                    <a:pt x="3632" y="72"/>
                    <a:pt x="3453" y="1"/>
                    <a:pt x="32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5868111" y="2906521"/>
              <a:ext cx="127724" cy="172823"/>
            </a:xfrm>
            <a:custGeom>
              <a:avLst/>
              <a:gdLst/>
              <a:ahLst/>
              <a:cxnLst/>
              <a:rect l="l" t="t" r="r" b="b"/>
              <a:pathLst>
                <a:path w="4013" h="5430" extrusionOk="0">
                  <a:moveTo>
                    <a:pt x="2191" y="334"/>
                  </a:moveTo>
                  <a:cubicBezTo>
                    <a:pt x="2406" y="334"/>
                    <a:pt x="2560" y="501"/>
                    <a:pt x="2560" y="703"/>
                  </a:cubicBezTo>
                  <a:lnTo>
                    <a:pt x="2560" y="1084"/>
                  </a:lnTo>
                  <a:cubicBezTo>
                    <a:pt x="2560" y="1394"/>
                    <a:pt x="2310" y="1644"/>
                    <a:pt x="2001" y="1644"/>
                  </a:cubicBezTo>
                  <a:cubicBezTo>
                    <a:pt x="1691" y="1644"/>
                    <a:pt x="1453" y="1394"/>
                    <a:pt x="1453" y="1084"/>
                  </a:cubicBezTo>
                  <a:lnTo>
                    <a:pt x="1453" y="703"/>
                  </a:lnTo>
                  <a:cubicBezTo>
                    <a:pt x="1453" y="501"/>
                    <a:pt x="1608" y="334"/>
                    <a:pt x="1822" y="334"/>
                  </a:cubicBezTo>
                  <a:close/>
                  <a:moveTo>
                    <a:pt x="2191" y="1953"/>
                  </a:moveTo>
                  <a:lnTo>
                    <a:pt x="2191" y="2060"/>
                  </a:lnTo>
                  <a:cubicBezTo>
                    <a:pt x="2203" y="2120"/>
                    <a:pt x="2227" y="2179"/>
                    <a:pt x="2251" y="2239"/>
                  </a:cubicBezTo>
                  <a:lnTo>
                    <a:pt x="2013" y="2477"/>
                  </a:lnTo>
                  <a:lnTo>
                    <a:pt x="2001" y="2477"/>
                  </a:lnTo>
                  <a:lnTo>
                    <a:pt x="1763" y="2239"/>
                  </a:lnTo>
                  <a:cubicBezTo>
                    <a:pt x="1786" y="2179"/>
                    <a:pt x="1810" y="2120"/>
                    <a:pt x="1810" y="2060"/>
                  </a:cubicBezTo>
                  <a:lnTo>
                    <a:pt x="1810" y="1953"/>
                  </a:lnTo>
                  <a:cubicBezTo>
                    <a:pt x="1870" y="1965"/>
                    <a:pt x="1941" y="1965"/>
                    <a:pt x="2001" y="1965"/>
                  </a:cubicBezTo>
                  <a:cubicBezTo>
                    <a:pt x="2060" y="1965"/>
                    <a:pt x="2132" y="1953"/>
                    <a:pt x="2191" y="1953"/>
                  </a:cubicBezTo>
                  <a:close/>
                  <a:moveTo>
                    <a:pt x="2525" y="2429"/>
                  </a:moveTo>
                  <a:lnTo>
                    <a:pt x="2822" y="2584"/>
                  </a:lnTo>
                  <a:cubicBezTo>
                    <a:pt x="2882" y="2608"/>
                    <a:pt x="2917" y="2680"/>
                    <a:pt x="2917" y="2763"/>
                  </a:cubicBezTo>
                  <a:lnTo>
                    <a:pt x="2917" y="3084"/>
                  </a:lnTo>
                  <a:lnTo>
                    <a:pt x="1072" y="3084"/>
                  </a:lnTo>
                  <a:lnTo>
                    <a:pt x="1072" y="2763"/>
                  </a:lnTo>
                  <a:cubicBezTo>
                    <a:pt x="1072" y="2680"/>
                    <a:pt x="1120" y="2632"/>
                    <a:pt x="1179" y="2584"/>
                  </a:cubicBezTo>
                  <a:lnTo>
                    <a:pt x="1477" y="2429"/>
                  </a:lnTo>
                  <a:lnTo>
                    <a:pt x="1751" y="2703"/>
                  </a:lnTo>
                  <a:cubicBezTo>
                    <a:pt x="1822" y="2775"/>
                    <a:pt x="1905" y="2799"/>
                    <a:pt x="2001" y="2799"/>
                  </a:cubicBezTo>
                  <a:cubicBezTo>
                    <a:pt x="2084" y="2799"/>
                    <a:pt x="2179" y="2775"/>
                    <a:pt x="2251" y="2703"/>
                  </a:cubicBezTo>
                  <a:lnTo>
                    <a:pt x="2525" y="2429"/>
                  </a:lnTo>
                  <a:close/>
                  <a:moveTo>
                    <a:pt x="3560" y="3442"/>
                  </a:moveTo>
                  <a:lnTo>
                    <a:pt x="3370" y="3834"/>
                  </a:lnTo>
                  <a:lnTo>
                    <a:pt x="655" y="3834"/>
                  </a:lnTo>
                  <a:lnTo>
                    <a:pt x="465" y="3442"/>
                  </a:lnTo>
                  <a:close/>
                  <a:moveTo>
                    <a:pt x="1822" y="1"/>
                  </a:moveTo>
                  <a:cubicBezTo>
                    <a:pt x="1417" y="1"/>
                    <a:pt x="1108" y="334"/>
                    <a:pt x="1108" y="715"/>
                  </a:cubicBezTo>
                  <a:lnTo>
                    <a:pt x="1108" y="1096"/>
                  </a:lnTo>
                  <a:cubicBezTo>
                    <a:pt x="1108" y="1394"/>
                    <a:pt x="1251" y="1656"/>
                    <a:pt x="1477" y="1822"/>
                  </a:cubicBezTo>
                  <a:lnTo>
                    <a:pt x="1477" y="2072"/>
                  </a:lnTo>
                  <a:lnTo>
                    <a:pt x="1477" y="2084"/>
                  </a:lnTo>
                  <a:lnTo>
                    <a:pt x="1048" y="2299"/>
                  </a:lnTo>
                  <a:cubicBezTo>
                    <a:pt x="870" y="2382"/>
                    <a:pt x="751" y="2584"/>
                    <a:pt x="751" y="2775"/>
                  </a:cubicBezTo>
                  <a:lnTo>
                    <a:pt x="751" y="3108"/>
                  </a:lnTo>
                  <a:lnTo>
                    <a:pt x="179" y="3108"/>
                  </a:lnTo>
                  <a:cubicBezTo>
                    <a:pt x="120" y="3108"/>
                    <a:pt x="60" y="3132"/>
                    <a:pt x="36" y="3180"/>
                  </a:cubicBezTo>
                  <a:cubicBezTo>
                    <a:pt x="0" y="3227"/>
                    <a:pt x="0" y="3299"/>
                    <a:pt x="24" y="3346"/>
                  </a:cubicBezTo>
                  <a:lnTo>
                    <a:pt x="393" y="4073"/>
                  </a:lnTo>
                  <a:cubicBezTo>
                    <a:pt x="417" y="4132"/>
                    <a:pt x="477" y="4156"/>
                    <a:pt x="536" y="4156"/>
                  </a:cubicBezTo>
                  <a:lnTo>
                    <a:pt x="739" y="4156"/>
                  </a:lnTo>
                  <a:lnTo>
                    <a:pt x="739" y="5263"/>
                  </a:lnTo>
                  <a:cubicBezTo>
                    <a:pt x="739" y="5347"/>
                    <a:pt x="810" y="5430"/>
                    <a:pt x="893" y="5430"/>
                  </a:cubicBezTo>
                  <a:cubicBezTo>
                    <a:pt x="989" y="5430"/>
                    <a:pt x="1060" y="5347"/>
                    <a:pt x="1060" y="5263"/>
                  </a:cubicBezTo>
                  <a:lnTo>
                    <a:pt x="1060" y="4156"/>
                  </a:lnTo>
                  <a:lnTo>
                    <a:pt x="2906" y="4156"/>
                  </a:lnTo>
                  <a:lnTo>
                    <a:pt x="2906" y="5263"/>
                  </a:lnTo>
                  <a:cubicBezTo>
                    <a:pt x="2906" y="5347"/>
                    <a:pt x="2977" y="5430"/>
                    <a:pt x="3072" y="5430"/>
                  </a:cubicBezTo>
                  <a:cubicBezTo>
                    <a:pt x="3156" y="5430"/>
                    <a:pt x="3227" y="5347"/>
                    <a:pt x="3227" y="5263"/>
                  </a:cubicBezTo>
                  <a:lnTo>
                    <a:pt x="3227" y="4156"/>
                  </a:lnTo>
                  <a:lnTo>
                    <a:pt x="3429" y="4156"/>
                  </a:lnTo>
                  <a:cubicBezTo>
                    <a:pt x="3489" y="4156"/>
                    <a:pt x="3549" y="4132"/>
                    <a:pt x="3572" y="4073"/>
                  </a:cubicBezTo>
                  <a:lnTo>
                    <a:pt x="3941" y="3346"/>
                  </a:lnTo>
                  <a:cubicBezTo>
                    <a:pt x="4013" y="3299"/>
                    <a:pt x="4013" y="3227"/>
                    <a:pt x="3977" y="3180"/>
                  </a:cubicBezTo>
                  <a:cubicBezTo>
                    <a:pt x="3953" y="3132"/>
                    <a:pt x="3894" y="3108"/>
                    <a:pt x="3834" y="3108"/>
                  </a:cubicBezTo>
                  <a:lnTo>
                    <a:pt x="3263" y="3108"/>
                  </a:lnTo>
                  <a:lnTo>
                    <a:pt x="3263" y="2775"/>
                  </a:lnTo>
                  <a:cubicBezTo>
                    <a:pt x="3263" y="2572"/>
                    <a:pt x="3144" y="2382"/>
                    <a:pt x="2965" y="2299"/>
                  </a:cubicBezTo>
                  <a:lnTo>
                    <a:pt x="2536" y="2084"/>
                  </a:lnTo>
                  <a:lnTo>
                    <a:pt x="2536" y="2072"/>
                  </a:lnTo>
                  <a:lnTo>
                    <a:pt x="2536" y="1822"/>
                  </a:lnTo>
                  <a:cubicBezTo>
                    <a:pt x="2763" y="1656"/>
                    <a:pt x="2906" y="1394"/>
                    <a:pt x="2906" y="1096"/>
                  </a:cubicBezTo>
                  <a:lnTo>
                    <a:pt x="2906" y="715"/>
                  </a:lnTo>
                  <a:cubicBezTo>
                    <a:pt x="2906" y="322"/>
                    <a:pt x="2572" y="1"/>
                    <a:pt x="2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2"/>
            <p:cNvSpPr/>
            <p:nvPr/>
          </p:nvSpPr>
          <p:spPr>
            <a:xfrm>
              <a:off x="5915088" y="3051655"/>
              <a:ext cx="34151" cy="10662"/>
            </a:xfrm>
            <a:custGeom>
              <a:avLst/>
              <a:gdLst/>
              <a:ahLst/>
              <a:cxnLst/>
              <a:rect l="l" t="t" r="r" b="b"/>
              <a:pathLst>
                <a:path w="1073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894" y="334"/>
                  </a:lnTo>
                  <a:cubicBezTo>
                    <a:pt x="989" y="334"/>
                    <a:pt x="1060" y="251"/>
                    <a:pt x="1060" y="167"/>
                  </a:cubicBezTo>
                  <a:cubicBezTo>
                    <a:pt x="1072" y="72"/>
                    <a:pt x="989" y="1"/>
                    <a:pt x="8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42"/>
          <p:cNvGrpSpPr/>
          <p:nvPr/>
        </p:nvGrpSpPr>
        <p:grpSpPr>
          <a:xfrm>
            <a:off x="6687970" y="2709057"/>
            <a:ext cx="482341" cy="481379"/>
            <a:chOff x="975800" y="1925575"/>
            <a:chExt cx="363400" cy="362675"/>
          </a:xfrm>
        </p:grpSpPr>
        <p:sp>
          <p:nvSpPr>
            <p:cNvPr id="476" name="Google Shape;476;p42"/>
            <p:cNvSpPr/>
            <p:nvPr/>
          </p:nvSpPr>
          <p:spPr>
            <a:xfrm>
              <a:off x="975800" y="1925575"/>
              <a:ext cx="363400" cy="362675"/>
            </a:xfrm>
            <a:custGeom>
              <a:avLst/>
              <a:gdLst/>
              <a:ahLst/>
              <a:cxnLst/>
              <a:rect l="l" t="t" r="r" b="b"/>
              <a:pathLst>
                <a:path w="14536" h="14507" extrusionOk="0">
                  <a:moveTo>
                    <a:pt x="11106" y="480"/>
                  </a:moveTo>
                  <a:cubicBezTo>
                    <a:pt x="11627" y="480"/>
                    <a:pt x="12144" y="835"/>
                    <a:pt x="12098" y="1545"/>
                  </a:cubicBezTo>
                  <a:lnTo>
                    <a:pt x="12098" y="4230"/>
                  </a:lnTo>
                  <a:lnTo>
                    <a:pt x="10092" y="4230"/>
                  </a:lnTo>
                  <a:lnTo>
                    <a:pt x="10092" y="1545"/>
                  </a:lnTo>
                  <a:cubicBezTo>
                    <a:pt x="10061" y="835"/>
                    <a:pt x="10586" y="480"/>
                    <a:pt x="11106" y="480"/>
                  </a:cubicBezTo>
                  <a:close/>
                  <a:moveTo>
                    <a:pt x="9907" y="527"/>
                  </a:moveTo>
                  <a:cubicBezTo>
                    <a:pt x="9660" y="804"/>
                    <a:pt x="9536" y="1175"/>
                    <a:pt x="9536" y="1545"/>
                  </a:cubicBezTo>
                  <a:lnTo>
                    <a:pt x="9536" y="7501"/>
                  </a:lnTo>
                  <a:cubicBezTo>
                    <a:pt x="9490" y="8119"/>
                    <a:pt x="9012" y="8427"/>
                    <a:pt x="8537" y="8427"/>
                  </a:cubicBezTo>
                  <a:cubicBezTo>
                    <a:pt x="8063" y="8427"/>
                    <a:pt x="7592" y="8119"/>
                    <a:pt x="7561" y="7501"/>
                  </a:cubicBezTo>
                  <a:lnTo>
                    <a:pt x="7561" y="7069"/>
                  </a:lnTo>
                  <a:cubicBezTo>
                    <a:pt x="7561" y="6915"/>
                    <a:pt x="7407" y="6791"/>
                    <a:pt x="7253" y="6791"/>
                  </a:cubicBezTo>
                  <a:lnTo>
                    <a:pt x="4135" y="6791"/>
                  </a:lnTo>
                  <a:lnTo>
                    <a:pt x="4135" y="1545"/>
                  </a:lnTo>
                  <a:cubicBezTo>
                    <a:pt x="4135" y="989"/>
                    <a:pt x="4598" y="527"/>
                    <a:pt x="5123" y="527"/>
                  </a:cubicBezTo>
                  <a:close/>
                  <a:moveTo>
                    <a:pt x="6975" y="7347"/>
                  </a:moveTo>
                  <a:lnTo>
                    <a:pt x="6975" y="7501"/>
                  </a:lnTo>
                  <a:cubicBezTo>
                    <a:pt x="6975" y="7841"/>
                    <a:pt x="7098" y="8211"/>
                    <a:pt x="7345" y="8489"/>
                  </a:cubicBezTo>
                  <a:lnTo>
                    <a:pt x="3426" y="8489"/>
                  </a:lnTo>
                  <a:cubicBezTo>
                    <a:pt x="2901" y="8489"/>
                    <a:pt x="2438" y="8026"/>
                    <a:pt x="2438" y="7501"/>
                  </a:cubicBezTo>
                  <a:lnTo>
                    <a:pt x="2438" y="7347"/>
                  </a:lnTo>
                  <a:close/>
                  <a:moveTo>
                    <a:pt x="13672" y="3088"/>
                  </a:moveTo>
                  <a:cubicBezTo>
                    <a:pt x="13826" y="3088"/>
                    <a:pt x="13950" y="3211"/>
                    <a:pt x="13950" y="3366"/>
                  </a:cubicBezTo>
                  <a:lnTo>
                    <a:pt x="13950" y="10186"/>
                  </a:lnTo>
                  <a:lnTo>
                    <a:pt x="8549" y="10186"/>
                  </a:lnTo>
                  <a:cubicBezTo>
                    <a:pt x="8148" y="10186"/>
                    <a:pt x="8148" y="10773"/>
                    <a:pt x="8549" y="10773"/>
                  </a:cubicBezTo>
                  <a:lnTo>
                    <a:pt x="13980" y="10773"/>
                  </a:lnTo>
                  <a:lnTo>
                    <a:pt x="13980" y="11791"/>
                  </a:lnTo>
                  <a:cubicBezTo>
                    <a:pt x="13950" y="11945"/>
                    <a:pt x="13826" y="12069"/>
                    <a:pt x="13672" y="12069"/>
                  </a:cubicBezTo>
                  <a:lnTo>
                    <a:pt x="864" y="12069"/>
                  </a:lnTo>
                  <a:cubicBezTo>
                    <a:pt x="710" y="12069"/>
                    <a:pt x="556" y="11945"/>
                    <a:pt x="556" y="11791"/>
                  </a:cubicBezTo>
                  <a:lnTo>
                    <a:pt x="556" y="10773"/>
                  </a:lnTo>
                  <a:lnTo>
                    <a:pt x="5987" y="10773"/>
                  </a:lnTo>
                  <a:cubicBezTo>
                    <a:pt x="6358" y="10773"/>
                    <a:pt x="6358" y="10217"/>
                    <a:pt x="5987" y="10217"/>
                  </a:cubicBezTo>
                  <a:lnTo>
                    <a:pt x="586" y="10217"/>
                  </a:lnTo>
                  <a:lnTo>
                    <a:pt x="586" y="3366"/>
                  </a:lnTo>
                  <a:cubicBezTo>
                    <a:pt x="586" y="3211"/>
                    <a:pt x="710" y="3088"/>
                    <a:pt x="864" y="3088"/>
                  </a:cubicBezTo>
                  <a:lnTo>
                    <a:pt x="3580" y="3088"/>
                  </a:lnTo>
                  <a:lnTo>
                    <a:pt x="3580" y="6791"/>
                  </a:lnTo>
                  <a:lnTo>
                    <a:pt x="2160" y="6791"/>
                  </a:lnTo>
                  <a:cubicBezTo>
                    <a:pt x="2006" y="6791"/>
                    <a:pt x="1883" y="6915"/>
                    <a:pt x="1883" y="7069"/>
                  </a:cubicBezTo>
                  <a:lnTo>
                    <a:pt x="1883" y="7501"/>
                  </a:lnTo>
                  <a:cubicBezTo>
                    <a:pt x="1883" y="8335"/>
                    <a:pt x="2562" y="9044"/>
                    <a:pt x="3426" y="9044"/>
                  </a:cubicBezTo>
                  <a:lnTo>
                    <a:pt x="8549" y="9044"/>
                  </a:lnTo>
                  <a:cubicBezTo>
                    <a:pt x="9413" y="9044"/>
                    <a:pt x="10092" y="8365"/>
                    <a:pt x="10092" y="7501"/>
                  </a:cubicBezTo>
                  <a:lnTo>
                    <a:pt x="10092" y="4785"/>
                  </a:lnTo>
                  <a:lnTo>
                    <a:pt x="12376" y="4785"/>
                  </a:lnTo>
                  <a:cubicBezTo>
                    <a:pt x="12530" y="4785"/>
                    <a:pt x="12653" y="4662"/>
                    <a:pt x="12653" y="4508"/>
                  </a:cubicBezTo>
                  <a:lnTo>
                    <a:pt x="12653" y="3088"/>
                  </a:lnTo>
                  <a:close/>
                  <a:moveTo>
                    <a:pt x="8672" y="12624"/>
                  </a:moveTo>
                  <a:lnTo>
                    <a:pt x="8672" y="13951"/>
                  </a:lnTo>
                  <a:lnTo>
                    <a:pt x="5833" y="13951"/>
                  </a:lnTo>
                  <a:lnTo>
                    <a:pt x="5833" y="12624"/>
                  </a:lnTo>
                  <a:close/>
                  <a:moveTo>
                    <a:pt x="11163" y="1"/>
                  </a:moveTo>
                  <a:cubicBezTo>
                    <a:pt x="11145" y="1"/>
                    <a:pt x="11128" y="1"/>
                    <a:pt x="11110" y="2"/>
                  </a:cubicBezTo>
                  <a:lnTo>
                    <a:pt x="5154" y="2"/>
                  </a:lnTo>
                  <a:cubicBezTo>
                    <a:pt x="4290" y="2"/>
                    <a:pt x="3580" y="681"/>
                    <a:pt x="3580" y="1545"/>
                  </a:cubicBezTo>
                  <a:lnTo>
                    <a:pt x="3580" y="2533"/>
                  </a:lnTo>
                  <a:lnTo>
                    <a:pt x="864" y="2533"/>
                  </a:lnTo>
                  <a:cubicBezTo>
                    <a:pt x="370" y="2533"/>
                    <a:pt x="0" y="2903"/>
                    <a:pt x="0" y="3366"/>
                  </a:cubicBezTo>
                  <a:lnTo>
                    <a:pt x="0" y="11791"/>
                  </a:lnTo>
                  <a:cubicBezTo>
                    <a:pt x="0" y="12254"/>
                    <a:pt x="370" y="12624"/>
                    <a:pt x="864" y="12624"/>
                  </a:cubicBezTo>
                  <a:lnTo>
                    <a:pt x="5277" y="12624"/>
                  </a:lnTo>
                  <a:lnTo>
                    <a:pt x="5277" y="13951"/>
                  </a:lnTo>
                  <a:lnTo>
                    <a:pt x="3858" y="13951"/>
                  </a:lnTo>
                  <a:cubicBezTo>
                    <a:pt x="3844" y="13949"/>
                    <a:pt x="3831" y="13947"/>
                    <a:pt x="3818" y="13947"/>
                  </a:cubicBezTo>
                  <a:cubicBezTo>
                    <a:pt x="3683" y="13947"/>
                    <a:pt x="3580" y="14088"/>
                    <a:pt x="3580" y="14229"/>
                  </a:cubicBezTo>
                  <a:cubicBezTo>
                    <a:pt x="3580" y="14383"/>
                    <a:pt x="3703" y="14507"/>
                    <a:pt x="3858" y="14507"/>
                  </a:cubicBezTo>
                  <a:lnTo>
                    <a:pt x="10678" y="14507"/>
                  </a:lnTo>
                  <a:cubicBezTo>
                    <a:pt x="10833" y="14507"/>
                    <a:pt x="10956" y="14383"/>
                    <a:pt x="10956" y="14229"/>
                  </a:cubicBezTo>
                  <a:cubicBezTo>
                    <a:pt x="10956" y="14088"/>
                    <a:pt x="10853" y="13947"/>
                    <a:pt x="10718" y="13947"/>
                  </a:cubicBezTo>
                  <a:cubicBezTo>
                    <a:pt x="10705" y="13947"/>
                    <a:pt x="10692" y="13949"/>
                    <a:pt x="10678" y="13951"/>
                  </a:cubicBezTo>
                  <a:lnTo>
                    <a:pt x="9259" y="13951"/>
                  </a:lnTo>
                  <a:lnTo>
                    <a:pt x="9259" y="12624"/>
                  </a:lnTo>
                  <a:lnTo>
                    <a:pt x="13672" y="12624"/>
                  </a:lnTo>
                  <a:cubicBezTo>
                    <a:pt x="14166" y="12624"/>
                    <a:pt x="14536" y="12254"/>
                    <a:pt x="14536" y="11791"/>
                  </a:cubicBezTo>
                  <a:lnTo>
                    <a:pt x="14536" y="3366"/>
                  </a:lnTo>
                  <a:cubicBezTo>
                    <a:pt x="14536" y="2903"/>
                    <a:pt x="14166" y="2533"/>
                    <a:pt x="13672" y="2533"/>
                  </a:cubicBezTo>
                  <a:lnTo>
                    <a:pt x="12653" y="2533"/>
                  </a:lnTo>
                  <a:lnTo>
                    <a:pt x="12653" y="1545"/>
                  </a:lnTo>
                  <a:cubicBezTo>
                    <a:pt x="12653" y="699"/>
                    <a:pt x="11973" y="1"/>
                    <a:pt x="1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1105400" y="1967275"/>
              <a:ext cx="82600" cy="14675"/>
            </a:xfrm>
            <a:custGeom>
              <a:avLst/>
              <a:gdLst/>
              <a:ahLst/>
              <a:cxnLst/>
              <a:rect l="l" t="t" r="r" b="b"/>
              <a:pathLst>
                <a:path w="3304" h="587" extrusionOk="0">
                  <a:moveTo>
                    <a:pt x="371" y="0"/>
                  </a:moveTo>
                  <a:cubicBezTo>
                    <a:pt x="1" y="0"/>
                    <a:pt x="1" y="587"/>
                    <a:pt x="371" y="587"/>
                  </a:cubicBezTo>
                  <a:lnTo>
                    <a:pt x="2933" y="587"/>
                  </a:lnTo>
                  <a:cubicBezTo>
                    <a:pt x="3303" y="587"/>
                    <a:pt x="3303" y="0"/>
                    <a:pt x="2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1104100" y="2009675"/>
              <a:ext cx="84425" cy="14750"/>
            </a:xfrm>
            <a:custGeom>
              <a:avLst/>
              <a:gdLst/>
              <a:ahLst/>
              <a:cxnLst/>
              <a:rect l="l" t="t" r="r" b="b"/>
              <a:pathLst>
                <a:path w="3377" h="590" extrusionOk="0">
                  <a:moveTo>
                    <a:pt x="394" y="1"/>
                  </a:moveTo>
                  <a:cubicBezTo>
                    <a:pt x="1" y="1"/>
                    <a:pt x="1" y="589"/>
                    <a:pt x="394" y="589"/>
                  </a:cubicBezTo>
                  <a:cubicBezTo>
                    <a:pt x="403" y="589"/>
                    <a:pt x="413" y="589"/>
                    <a:pt x="423" y="588"/>
                  </a:cubicBezTo>
                  <a:lnTo>
                    <a:pt x="2985" y="588"/>
                  </a:lnTo>
                  <a:cubicBezTo>
                    <a:pt x="2994" y="589"/>
                    <a:pt x="3003" y="589"/>
                    <a:pt x="3012" y="589"/>
                  </a:cubicBezTo>
                  <a:cubicBezTo>
                    <a:pt x="3377" y="589"/>
                    <a:pt x="3377" y="1"/>
                    <a:pt x="3012" y="1"/>
                  </a:cubicBezTo>
                  <a:cubicBezTo>
                    <a:pt x="3003" y="1"/>
                    <a:pt x="2994" y="1"/>
                    <a:pt x="2985" y="2"/>
                  </a:cubicBezTo>
                  <a:lnTo>
                    <a:pt x="423" y="2"/>
                  </a:lnTo>
                  <a:cubicBezTo>
                    <a:pt x="413" y="1"/>
                    <a:pt x="403" y="1"/>
                    <a:pt x="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2"/>
            <p:cNvSpPr/>
            <p:nvPr/>
          </p:nvSpPr>
          <p:spPr>
            <a:xfrm>
              <a:off x="1104125" y="2052800"/>
              <a:ext cx="84400" cy="14050"/>
            </a:xfrm>
            <a:custGeom>
              <a:avLst/>
              <a:gdLst/>
              <a:ahLst/>
              <a:cxnLst/>
              <a:rect l="l" t="t" r="r" b="b"/>
              <a:pathLst>
                <a:path w="3376" h="562" extrusionOk="0">
                  <a:moveTo>
                    <a:pt x="366" y="1"/>
                  </a:moveTo>
                  <a:cubicBezTo>
                    <a:pt x="0" y="1"/>
                    <a:pt x="9" y="562"/>
                    <a:pt x="393" y="562"/>
                  </a:cubicBezTo>
                  <a:cubicBezTo>
                    <a:pt x="402" y="562"/>
                    <a:pt x="412" y="561"/>
                    <a:pt x="422" y="561"/>
                  </a:cubicBezTo>
                  <a:lnTo>
                    <a:pt x="2984" y="561"/>
                  </a:lnTo>
                  <a:cubicBezTo>
                    <a:pt x="2993" y="561"/>
                    <a:pt x="3002" y="562"/>
                    <a:pt x="3011" y="562"/>
                  </a:cubicBezTo>
                  <a:cubicBezTo>
                    <a:pt x="3367" y="562"/>
                    <a:pt x="3376" y="1"/>
                    <a:pt x="3036" y="1"/>
                  </a:cubicBezTo>
                  <a:cubicBezTo>
                    <a:pt x="3019" y="1"/>
                    <a:pt x="3002" y="2"/>
                    <a:pt x="2984" y="5"/>
                  </a:cubicBezTo>
                  <a:lnTo>
                    <a:pt x="422" y="5"/>
                  </a:lnTo>
                  <a:cubicBezTo>
                    <a:pt x="402" y="2"/>
                    <a:pt x="384" y="1"/>
                    <a:pt x="3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2"/>
            <p:cNvSpPr/>
            <p:nvPr/>
          </p:nvSpPr>
          <p:spPr>
            <a:xfrm>
              <a:off x="1147850" y="2180225"/>
              <a:ext cx="17000" cy="14400"/>
            </a:xfrm>
            <a:custGeom>
              <a:avLst/>
              <a:gdLst/>
              <a:ahLst/>
              <a:cxnLst/>
              <a:rect l="l" t="t" r="r" b="b"/>
              <a:pathLst>
                <a:path w="680" h="576" extrusionOk="0">
                  <a:moveTo>
                    <a:pt x="371" y="0"/>
                  </a:moveTo>
                  <a:cubicBezTo>
                    <a:pt x="124" y="0"/>
                    <a:pt x="0" y="309"/>
                    <a:pt x="185" y="494"/>
                  </a:cubicBezTo>
                  <a:cubicBezTo>
                    <a:pt x="242" y="551"/>
                    <a:pt x="311" y="576"/>
                    <a:pt x="378" y="576"/>
                  </a:cubicBezTo>
                  <a:cubicBezTo>
                    <a:pt x="531" y="576"/>
                    <a:pt x="679" y="449"/>
                    <a:pt x="679" y="278"/>
                  </a:cubicBezTo>
                  <a:cubicBezTo>
                    <a:pt x="679" y="124"/>
                    <a:pt x="525" y="0"/>
                    <a:pt x="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" name="Google Shape;357;p34">
            <a:extLst>
              <a:ext uri="{FF2B5EF4-FFF2-40B4-BE49-F238E27FC236}">
                <a16:creationId xmlns:a16="http://schemas.microsoft.com/office/drawing/2014/main" xmlns="" id="{2402C315-B491-1548-9C1F-BC973C536DCC}"/>
              </a:ext>
            </a:extLst>
          </p:cNvPr>
          <p:cNvCxnSpPr>
            <a:cxnSpLocks/>
            <a:endCxn id="469" idx="0"/>
          </p:cNvCxnSpPr>
          <p:nvPr/>
        </p:nvCxnSpPr>
        <p:spPr>
          <a:xfrm>
            <a:off x="4530017" y="641669"/>
            <a:ext cx="41983" cy="3961206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6" name="Google Shape;357;p34">
            <a:extLst>
              <a:ext uri="{FF2B5EF4-FFF2-40B4-BE49-F238E27FC236}">
                <a16:creationId xmlns:a16="http://schemas.microsoft.com/office/drawing/2014/main" xmlns="" id="{D761AEFE-C963-2BB5-245A-12C3D51EB919}"/>
              </a:ext>
            </a:extLst>
          </p:cNvPr>
          <p:cNvCxnSpPr>
            <a:cxnSpLocks/>
          </p:cNvCxnSpPr>
          <p:nvPr/>
        </p:nvCxnSpPr>
        <p:spPr>
          <a:xfrm>
            <a:off x="3124114" y="2384210"/>
            <a:ext cx="1394714" cy="4331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0" name="Google Shape;357;p34">
            <a:extLst>
              <a:ext uri="{FF2B5EF4-FFF2-40B4-BE49-F238E27FC236}">
                <a16:creationId xmlns:a16="http://schemas.microsoft.com/office/drawing/2014/main" xmlns="" id="{0A6CE2E8-C4C1-05C9-0C0F-6A7445F38B0F}"/>
              </a:ext>
            </a:extLst>
          </p:cNvPr>
          <p:cNvCxnSpPr>
            <a:cxnSpLocks/>
            <a:endCxn id="468" idx="1"/>
          </p:cNvCxnSpPr>
          <p:nvPr/>
        </p:nvCxnSpPr>
        <p:spPr>
          <a:xfrm>
            <a:off x="4569910" y="3400249"/>
            <a:ext cx="1271581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5" name="Google Shape;357;p34">
            <a:extLst>
              <a:ext uri="{FF2B5EF4-FFF2-40B4-BE49-F238E27FC236}">
                <a16:creationId xmlns:a16="http://schemas.microsoft.com/office/drawing/2014/main" xmlns="" id="{342BF6F9-7568-AB55-9759-CFF1EABC833F}"/>
              </a:ext>
            </a:extLst>
          </p:cNvPr>
          <p:cNvCxnSpPr>
            <a:cxnSpLocks/>
          </p:cNvCxnSpPr>
          <p:nvPr/>
        </p:nvCxnSpPr>
        <p:spPr>
          <a:xfrm flipV="1">
            <a:off x="4530017" y="1246312"/>
            <a:ext cx="1271581" cy="4718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3" name="Google Shape;463;p42">
            <a:extLst>
              <a:ext uri="{FF2B5EF4-FFF2-40B4-BE49-F238E27FC236}">
                <a16:creationId xmlns:a16="http://schemas.microsoft.com/office/drawing/2014/main" xmlns="" id="{FB4625EE-7186-E51E-4C43-617CEB613554}"/>
              </a:ext>
            </a:extLst>
          </p:cNvPr>
          <p:cNvSpPr txBox="1">
            <a:spLocks/>
          </p:cNvSpPr>
          <p:nvPr/>
        </p:nvSpPr>
        <p:spPr>
          <a:xfrm>
            <a:off x="1150884" y="2738363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 algn="just"/>
            <a:r>
              <a:rPr lang="pt-BR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 Encanto Doce tem como missão oferecer uma variedade de produtos de qualidade com o objetivo de atrair clientes.</a:t>
            </a:r>
            <a:endParaRPr lang="pt-BR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xmlns="" id="{8B019E60-6907-A97C-234A-00544AA419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xmlns="" id="{28BEF4C6-39EB-939C-7715-D32CC7345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775" y="2753756"/>
            <a:ext cx="7204200" cy="1478400"/>
          </a:xfrm>
        </p:spPr>
        <p:txBody>
          <a:bodyPr/>
          <a:lstStyle/>
          <a:p>
            <a:pPr algn="l" rtl="0">
              <a:spcBef>
                <a:spcPts val="1200"/>
              </a:spcBef>
              <a:spcAft>
                <a:spcPts val="1200"/>
              </a:spcAft>
            </a:pPr>
            <a:r>
              <a:rPr lang="pt-BR" sz="1200" b="1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Diferenciais</a:t>
            </a:r>
            <a:r>
              <a:rPr lang="pt-BR" sz="1200" b="1" dirty="0">
                <a:solidFill>
                  <a:schemeClr val="bg2"/>
                </a:solidFill>
              </a:rPr>
              <a:t> </a:t>
            </a:r>
            <a:r>
              <a:rPr lang="pt-BR" sz="1200" b="1" dirty="0"/>
              <a:t>						 </a:t>
            </a: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Produtos artesanais feitos no próprio estabelecimento, garantindo controle de qualidade.                 Uso de ingredientes de alta qualidade para garantir sabor e frescor.                                         Produção sob demanda em datas comemorativas para evitar desperdício.</a:t>
            </a:r>
            <a:endParaRPr lang="pt-BR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 rtl="0">
              <a:spcBef>
                <a:spcPts val="1200"/>
              </a:spcBef>
              <a:spcAft>
                <a:spcPts val="1200"/>
              </a:spcAft>
            </a:pPr>
            <a:r>
              <a:rPr lang="pt-BR" sz="1200" b="1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Benefícios</a:t>
            </a: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				                                           Produtos frescos e de alta qualidade.				          Sabores autênticos e artesanais que encantam.		                        Atendimento rápido e personalizado.</a:t>
            </a:r>
            <a:r>
              <a:rPr lang="pt-BR" sz="1200" dirty="0"/>
              <a:t>  			                              </a:t>
            </a: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Variedade de opções, com produtos para diversas ocasiões e datas comemorativas.</a:t>
            </a:r>
            <a:r>
              <a:rPr lang="pt-BR" sz="1200" dirty="0">
                <a:solidFill>
                  <a:srgbClr val="000000"/>
                </a:solidFill>
                <a:latin typeface="Arial" panose="020B0604020202020204" pitchFamily="34" charset="0"/>
              </a:rPr>
              <a:t>             </a:t>
            </a:r>
          </a:p>
          <a:p>
            <a:pPr algn="l" rtl="0">
              <a:spcBef>
                <a:spcPts val="1200"/>
              </a:spcBef>
              <a:spcAft>
                <a:spcPts val="1200"/>
              </a:spcAft>
            </a:pPr>
            <a:r>
              <a:rPr lang="pt-BR" sz="1200" b="1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Lista de recursos:</a:t>
            </a:r>
            <a:r>
              <a:rPr lang="pt-BR" sz="1200" b="1" dirty="0">
                <a:effectLst/>
              </a:rPr>
              <a:t/>
            </a:r>
            <a:br>
              <a:rPr lang="pt-BR" sz="1200" b="1" dirty="0">
                <a:effectLst/>
              </a:rPr>
            </a:b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Doces: Bolos (chocolate, cenoura e bolos tradicionais), brigadeiros, mousses, tortinhas de limão, copos da felicidade.</a:t>
            </a:r>
            <a:r>
              <a:rPr lang="pt-BR" sz="1200" dirty="0"/>
              <a:t> 					 </a:t>
            </a: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Bebidas: Águas mineral, refrigerantes.</a:t>
            </a:r>
            <a:endParaRPr lang="pt-BR" sz="1200" b="0" dirty="0">
              <a:effectLst/>
            </a:endParaRPr>
          </a:p>
          <a:p>
            <a:r>
              <a:rPr lang="pt-BR" sz="900" dirty="0"/>
              <a:t/>
            </a:r>
            <a:br>
              <a:rPr lang="pt-BR" sz="900" dirty="0"/>
            </a:br>
            <a:endParaRPr lang="pt-BR" sz="1200" b="0" dirty="0">
              <a:effectLst/>
            </a:endParaRPr>
          </a:p>
          <a:p>
            <a:r>
              <a:rPr lang="pt-BR" sz="1200" dirty="0"/>
              <a:t/>
            </a:r>
            <a:br>
              <a:rPr lang="pt-BR" sz="1200" dirty="0"/>
            </a:br>
            <a:endParaRPr lang="pt-BR" sz="1200" b="0" dirty="0">
              <a:effectLst/>
            </a:endParaRPr>
          </a:p>
          <a:p>
            <a:r>
              <a:rPr lang="pt-BR" sz="1200" b="0" dirty="0">
                <a:effectLst/>
              </a:rPr>
              <a:t/>
            </a:r>
            <a:br>
              <a:rPr lang="pt-BR" sz="1200" b="0" dirty="0">
                <a:effectLst/>
              </a:rPr>
            </a:br>
            <a:endParaRPr lang="pt-BR" sz="1200" dirty="0"/>
          </a:p>
        </p:txBody>
      </p:sp>
      <p:sp>
        <p:nvSpPr>
          <p:cNvPr id="6" name="Título 2">
            <a:extLst>
              <a:ext uri="{FF2B5EF4-FFF2-40B4-BE49-F238E27FC236}">
                <a16:creationId xmlns:a16="http://schemas.microsoft.com/office/drawing/2014/main" xmlns="" id="{B5B166DA-04F7-5DAB-A70D-54043788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174" y="528215"/>
            <a:ext cx="4762826" cy="572700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/>
          <a:lstStyle/>
          <a:p>
            <a:r>
              <a:rPr lang="pt-BR" sz="2400" dirty="0" smtClean="0">
                <a:solidFill>
                  <a:schemeClr val="bg2"/>
                </a:solidFill>
              </a:rPr>
              <a:t>PRODUTOS E SERVIÇOS</a:t>
            </a:r>
            <a:endParaRPr lang="pt-BR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97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xmlns="" id="{6EB3F2BA-FF9F-094D-500B-774DD05E43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xmlns="" id="{9BD2404F-C2A4-2CB7-4B60-7018EFAE2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68708"/>
            <a:ext cx="7704000" cy="572700"/>
          </a:xfrm>
        </p:spPr>
        <p:txBody>
          <a:bodyPr/>
          <a:lstStyle/>
          <a:p>
            <a:pPr algn="ctr"/>
            <a:r>
              <a:rPr lang="pt-BR" sz="2400" dirty="0" smtClean="0">
                <a:solidFill>
                  <a:schemeClr val="bg2"/>
                </a:solidFill>
              </a:rPr>
              <a:t>ANALISE DE MERCADO</a:t>
            </a:r>
            <a:endParaRPr lang="pt-BR" sz="2400" dirty="0">
              <a:solidFill>
                <a:schemeClr val="bg2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7048281-499B-2B1A-FAE0-835C14FAC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780" y="884930"/>
            <a:ext cx="8608742" cy="3233100"/>
          </a:xfrm>
        </p:spPr>
        <p:txBody>
          <a:bodyPr/>
          <a:lstStyle/>
          <a:p>
            <a:pPr marL="17780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Dados de mercado: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Tamanho do mercado e taxa de crescimento.</a:t>
            </a:r>
            <a:r>
              <a:rPr lang="pt-BR" sz="1600" dirty="0"/>
              <a:t>			    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setor alimentício é um dos que mais crescem nos dias atuais, apresentando uma grande importância para a economia brasileira. </a:t>
            </a: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780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Perfil do consumidor: Características principais do público-alvo</a:t>
            </a:r>
            <a:r>
              <a:rPr lang="pt-BR" sz="1600" b="1" dirty="0"/>
              <a:t>		              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Pessoas que amam doces, trabalhadores nas proximidades, clientes que querem comer um docinho para apreciar a degustação de produtos diferenciados e pessoas que passam pela loja e se interessam.	</a:t>
            </a:r>
            <a:endParaRPr lang="pt-BR" sz="1600" b="0" i="0" u="none" strike="noStrike" dirty="0" smtClean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780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pt-BR" sz="1600" dirty="0"/>
              <a:t/>
            </a:r>
            <a:br>
              <a:rPr lang="pt-BR" sz="1600" dirty="0"/>
            </a:b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Comportamento dos clientes: 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Os clientes compraram principalmente por causa do sabor inesquecível, procuram um lugar aconchegante para degustar um doce, geralmente após o almoço, e preferem uma loja que ofereça doces prontos para compra, sem necessidade de encomendas.</a:t>
            </a:r>
            <a:endParaRPr lang="pt-BR" sz="1600" b="0" dirty="0">
              <a:effectLst/>
            </a:endParaRPr>
          </a:p>
          <a:p>
            <a:pPr marL="17780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95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xmlns="" id="{6D5324E6-8A3B-061F-937F-8F1FA79F73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xmlns="" id="{9A2152E7-77F7-331B-B65F-3210B3C0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08878"/>
            <a:ext cx="7944498" cy="460917"/>
          </a:xfrm>
        </p:spPr>
        <p:txBody>
          <a:bodyPr/>
          <a:lstStyle/>
          <a:p>
            <a:pPr algn="ctr" rtl="0">
              <a:spcBef>
                <a:spcPts val="1200"/>
              </a:spcBef>
              <a:spcAft>
                <a:spcPts val="1200"/>
              </a:spcAft>
            </a:pPr>
            <a:r>
              <a:rPr lang="pt-BR" sz="2400" i="0" u="none" strike="noStrike" dirty="0" smtClean="0">
                <a:solidFill>
                  <a:schemeClr val="bg2"/>
                </a:solidFill>
                <a:effectLst/>
                <a:latin typeface="Quicksand" panose="020B0604020202020204" charset="0"/>
              </a:rPr>
              <a:t>PLANO DE MARKETING E VENDAS</a:t>
            </a:r>
            <a:r>
              <a:rPr lang="pt-BR" sz="2400" dirty="0" smtClean="0">
                <a:solidFill>
                  <a:schemeClr val="bg2"/>
                </a:solidFill>
                <a:effectLst/>
                <a:latin typeface="Quicksand" panose="020B0604020202020204" charset="0"/>
              </a:rPr>
              <a:t/>
            </a:r>
            <a:br>
              <a:rPr lang="pt-BR" sz="2400" dirty="0" smtClean="0">
                <a:solidFill>
                  <a:schemeClr val="bg2"/>
                </a:solidFill>
                <a:effectLst/>
                <a:latin typeface="Quicksand" panose="020B0604020202020204" charset="0"/>
              </a:rPr>
            </a:br>
            <a:r>
              <a:rPr lang="pt-BR" dirty="0" smtClean="0">
                <a:solidFill>
                  <a:schemeClr val="bg2"/>
                </a:solidFill>
                <a:latin typeface="Quicksand" panose="020B0604020202020204" charset="0"/>
              </a:rPr>
              <a:t/>
            </a:r>
            <a:br>
              <a:rPr lang="pt-BR" dirty="0" smtClean="0">
                <a:solidFill>
                  <a:schemeClr val="bg2"/>
                </a:solidFill>
                <a:latin typeface="Quicksand" panose="020B0604020202020204" charset="0"/>
              </a:rPr>
            </a:br>
            <a:endParaRPr lang="pt-BR" dirty="0">
              <a:solidFill>
                <a:schemeClr val="bg2"/>
              </a:solidFill>
              <a:latin typeface="Quicksand" panose="020B0604020202020204" charset="0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3D958FA2-8A70-9DE1-461C-F0BF072C2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175" y="1215750"/>
            <a:ext cx="8675649" cy="3233100"/>
          </a:xfrm>
        </p:spPr>
        <p:txBody>
          <a:bodyPr/>
          <a:lstStyle/>
          <a:p>
            <a:pPr marL="17780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dirty="0">
                <a:solidFill>
                  <a:srgbClr val="000000"/>
                </a:solidFill>
                <a:latin typeface="+mj-lt"/>
              </a:rPr>
              <a:t>Posicionamento: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empresa será posicionada no mercado como uma microempresa onde todos os produtos são feitos com muito amor e carinho, e com ingredientes de boa qualidade e criatividade. </a:t>
            </a:r>
            <a:endParaRPr lang="pt-BR" b="1" dirty="0">
              <a:solidFill>
                <a:srgbClr val="000000"/>
              </a:solidFill>
              <a:latin typeface="+mj-lt"/>
            </a:endParaRPr>
          </a:p>
          <a:p>
            <a:pPr marL="17780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i="0" u="none" strike="noStrike" dirty="0">
                <a:solidFill>
                  <a:srgbClr val="000000"/>
                </a:solidFill>
                <a:effectLst/>
                <a:latin typeface="+mj-lt"/>
              </a:rPr>
              <a:t>Mídia Social: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+mj-lt"/>
              </a:rPr>
              <a:t>Instagram  divulgações de promoções de produtos e fotos dos doces, pois a maioria das pessoas são atraídas pelo visual. O WhatsApp será responsável por fazer a mesma função e no recebimento de pedidos, com os clientes sendo respondidos o mais rápido possível.</a:t>
            </a:r>
            <a:endParaRPr lang="pt-BR" b="0" dirty="0">
              <a:effectLst/>
              <a:latin typeface="+mj-lt"/>
            </a:endParaRPr>
          </a:p>
          <a:p>
            <a:pPr marL="177800" indent="0" algn="just">
              <a:buNone/>
            </a:pPr>
            <a:r>
              <a:rPr lang="pt-B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Atração de Clientes: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Utilização do Instagram e do WhatsApp para divulgar produtos e receber pedidos. A proprietária será responsável por alimentar as redes sociais diariamente.</a:t>
            </a:r>
          </a:p>
          <a:p>
            <a:pPr marL="17780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Garantia de Qualidade e Rapidez: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Encanto Doce oferecerá garantia de qualidade e rapidez nos atendimentos para sempre priorizar a clientela.</a:t>
            </a:r>
            <a:endParaRPr lang="pt-BR" b="0" dirty="0">
              <a:effectLst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3858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xmlns="" id="{2ABAF4C1-35E6-610C-B739-ECE623476D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xmlns="" id="{4CAE37B9-5EBD-1632-7655-C4CE0280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400" i="0" u="none" strike="noStrike" dirty="0" smtClean="0">
                <a:solidFill>
                  <a:schemeClr val="bg2"/>
                </a:solidFill>
                <a:effectLst/>
                <a:latin typeface="Quicksand" panose="020B0604020202020204" charset="0"/>
              </a:rPr>
              <a:t>PLANO OPERACIONAL</a:t>
            </a:r>
            <a:r>
              <a:rPr lang="pt-BR" sz="3200" b="0" dirty="0" smtClean="0">
                <a:solidFill>
                  <a:schemeClr val="bg2"/>
                </a:solidFill>
                <a:effectLst/>
              </a:rPr>
              <a:t/>
            </a:r>
            <a:br>
              <a:rPr lang="pt-BR" sz="3200" b="0" dirty="0" smtClean="0">
                <a:solidFill>
                  <a:schemeClr val="bg2"/>
                </a:solidFill>
                <a:effectLst/>
              </a:rPr>
            </a:br>
            <a:endParaRPr lang="pt-BR" dirty="0">
              <a:solidFill>
                <a:schemeClr val="bg2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F6406F8B-70A8-5A4E-D05C-11FC403E0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478" y="1193750"/>
            <a:ext cx="8597590" cy="3233100"/>
          </a:xfrm>
        </p:spPr>
        <p:txBody>
          <a:bodyPr/>
          <a:lstStyle/>
          <a:p>
            <a:pPr marL="17780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Recebimento de Pedido: </a:t>
            </a: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proprietária recebe os pedidos por telefone, WhatsApp, redes sociais ou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diretamente na doceria.</a:t>
            </a:r>
            <a:endParaRPr lang="pt-BR" b="0" dirty="0">
              <a:effectLst/>
            </a:endParaRPr>
          </a:p>
          <a:p>
            <a:pPr marL="17780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Produção de Bolos, Tortinhas e Mousses: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proprietária realiza a produção desses itens.</a:t>
            </a:r>
            <a:endParaRPr lang="pt-BR" b="0" dirty="0">
              <a:effectLst/>
            </a:endParaRPr>
          </a:p>
          <a:p>
            <a:pPr marL="17780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Produção de Doces (Brigadeiro e Copo da Felicidade):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proprietária também é responsável pela produção dos brigadeiros e dos copos da felicidade.</a:t>
            </a:r>
            <a:endParaRPr lang="pt-BR" b="0" dirty="0">
              <a:effectLst/>
            </a:endParaRPr>
          </a:p>
          <a:p>
            <a:pPr marL="17780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Atendimento na Doceria e Encomendas: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proprietária atende os clientes diretamente na doceria.</a:t>
            </a:r>
          </a:p>
          <a:p>
            <a:pPr marL="17780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Expedição e Delivery: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funcionário realiza a entrega dos produtos aos clientes, garantindo um serviço de qualidade.</a:t>
            </a:r>
            <a:endParaRPr lang="pt-BR" b="0" dirty="0">
              <a:effectLst/>
            </a:endParaRP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4904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xmlns="" id="{B9FB0E9D-3631-A472-85E2-9D6DB7F8FD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43115DC8-59C2-3590-990C-D03029F86BE6}"/>
              </a:ext>
            </a:extLst>
          </p:cNvPr>
          <p:cNvSpPr/>
          <p:nvPr/>
        </p:nvSpPr>
        <p:spPr>
          <a:xfrm>
            <a:off x="847494" y="809395"/>
            <a:ext cx="2497871" cy="124150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16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Forças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pt-BR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Qualidade nos produtos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Localização</a:t>
            </a:r>
          </a:p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Diversificação nos doces</a:t>
            </a:r>
            <a:endParaRPr lang="pt-BR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9D1C5ECF-9387-5754-62F0-2815F335640E}"/>
              </a:ext>
            </a:extLst>
          </p:cNvPr>
          <p:cNvSpPr/>
          <p:nvPr/>
        </p:nvSpPr>
        <p:spPr>
          <a:xfrm>
            <a:off x="5798633" y="538512"/>
            <a:ext cx="2932772" cy="178326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16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Oportunidades </a:t>
            </a:r>
            <a:endParaRPr lang="pt-BR" sz="1600" dirty="0">
              <a:solidFill>
                <a:schemeClr val="bg2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Possibilidade de expansão 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Pouca concorrência no município </a:t>
            </a:r>
          </a:p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Proposta inovadora</a:t>
            </a:r>
            <a:endParaRPr lang="pt-BR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xmlns="" id="{ADDBF2C7-0265-6695-EDE3-FAAA9EF0D574}"/>
              </a:ext>
            </a:extLst>
          </p:cNvPr>
          <p:cNvSpPr/>
          <p:nvPr/>
        </p:nvSpPr>
        <p:spPr>
          <a:xfrm>
            <a:off x="888382" y="2795239"/>
            <a:ext cx="2497872" cy="169870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16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Fraquezas</a:t>
            </a:r>
            <a:endParaRPr lang="pt-BR" sz="1600" dirty="0">
              <a:solidFill>
                <a:schemeClr val="bg2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Capacidade em produção limitada 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Desperdício de doces</a:t>
            </a:r>
          </a:p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Custos altos</a:t>
            </a:r>
            <a:endParaRPr lang="pt-BR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80F535E0-2EAD-B02E-52FC-5752B23B137F}"/>
              </a:ext>
            </a:extLst>
          </p:cNvPr>
          <p:cNvSpPr/>
          <p:nvPr/>
        </p:nvSpPr>
        <p:spPr>
          <a:xfrm>
            <a:off x="5798633" y="2795239"/>
            <a:ext cx="2932772" cy="169870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16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Ameaças</a:t>
            </a:r>
            <a:r>
              <a:rPr lang="pt-BR" sz="1600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Concorrência aumentando 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Crise econômica</a:t>
            </a:r>
          </a:p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exigências legais rigorosas</a:t>
            </a:r>
            <a:endParaRPr lang="pt-BR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1D8FF452-FE4F-A031-750B-57340B546CA1}"/>
              </a:ext>
            </a:extLst>
          </p:cNvPr>
          <p:cNvSpPr/>
          <p:nvPr/>
        </p:nvSpPr>
        <p:spPr>
          <a:xfrm>
            <a:off x="3940096" y="2073200"/>
            <a:ext cx="1457093" cy="69137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bg2"/>
                </a:solidFill>
              </a:rPr>
              <a:t>F.O.F.A</a:t>
            </a:r>
          </a:p>
        </p:txBody>
      </p:sp>
      <p:sp>
        <p:nvSpPr>
          <p:cNvPr id="25" name="Seta: Dobrada para Cima 24">
            <a:extLst>
              <a:ext uri="{FF2B5EF4-FFF2-40B4-BE49-F238E27FC236}">
                <a16:creationId xmlns:a16="http://schemas.microsoft.com/office/drawing/2014/main" xmlns="" id="{78CD1FEB-79B1-F3C8-D98A-C27D964AD923}"/>
              </a:ext>
            </a:extLst>
          </p:cNvPr>
          <p:cNvSpPr/>
          <p:nvPr/>
        </p:nvSpPr>
        <p:spPr>
          <a:xfrm>
            <a:off x="5675971" y="2482077"/>
            <a:ext cx="706244" cy="17934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Seta: Dobrada para Cima 25">
            <a:extLst>
              <a:ext uri="{FF2B5EF4-FFF2-40B4-BE49-F238E27FC236}">
                <a16:creationId xmlns:a16="http://schemas.microsoft.com/office/drawing/2014/main" xmlns="" id="{65340E36-2C0B-2E8C-6D1A-7C335F032314}"/>
              </a:ext>
            </a:extLst>
          </p:cNvPr>
          <p:cNvSpPr/>
          <p:nvPr/>
        </p:nvSpPr>
        <p:spPr>
          <a:xfrm rot="10800000">
            <a:off x="2992244" y="2482077"/>
            <a:ext cx="706244" cy="17934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98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xmlns="" id="{F111F5F4-0208-71AF-014C-B0E3EBC4C3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xmlns="" id="{CDF7E07A-F32F-D681-ED2E-C5FA1CE7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384" y="707591"/>
            <a:ext cx="6486549" cy="531900"/>
          </a:xfrm>
        </p:spPr>
        <p:txBody>
          <a:bodyPr/>
          <a:lstStyle/>
          <a:p>
            <a:r>
              <a:rPr lang="pt-BR" sz="2400" dirty="0" smtClean="0">
                <a:solidFill>
                  <a:schemeClr val="bg2"/>
                </a:solidFill>
              </a:rPr>
              <a:t>AVALIAÇÃO ESTRATÉGICA</a:t>
            </a:r>
            <a:endParaRPr lang="pt-BR" sz="2400" dirty="0">
              <a:solidFill>
                <a:schemeClr val="bg2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xmlns="" id="{51858158-124E-13E2-BD38-9452C818C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562" y="2093210"/>
            <a:ext cx="8162692" cy="1478400"/>
          </a:xfrm>
        </p:spPr>
        <p:txBody>
          <a:bodyPr/>
          <a:lstStyle/>
          <a:p>
            <a:pPr algn="just" rtl="0">
              <a:spcBef>
                <a:spcPts val="1200"/>
              </a:spcBef>
              <a:spcAft>
                <a:spcPts val="1200"/>
              </a:spcAft>
            </a:pPr>
            <a:r>
              <a:rPr lang="pt-BR" b="0" dirty="0">
                <a:effectLst/>
              </a:rPr>
              <a:t/>
            </a:r>
            <a:br>
              <a:rPr lang="pt-BR" b="0" dirty="0">
                <a:effectLst/>
              </a:rPr>
            </a:b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plano de negócios da Encanto Doce destaca o crescimento do setor de confeitaria, com ênfase na busca dos consumidores por produtos mais saudáveis e saborosos.</a:t>
            </a:r>
          </a:p>
          <a:p>
            <a:pPr algn="just" rtl="0">
              <a:spcBef>
                <a:spcPts val="1200"/>
              </a:spcBef>
              <a:spcAft>
                <a:spcPts val="1200"/>
              </a:spcAft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 projeto é inicialmente pequeno, mas com grandes perspectivas de crescimento, devido à alta demanda por produtos de qualidade e ao foco na fidelização de clientes por meio de bom atendimento e excelência nos produtos.</a:t>
            </a:r>
          </a:p>
          <a:p>
            <a:pPr algn="just" rtl="0">
              <a:spcBef>
                <a:spcPts val="1200"/>
              </a:spcBef>
              <a:spcAft>
                <a:spcPts val="1200"/>
              </a:spcAft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Além disso, o projeto é sim viável e lucrativo com o passar do tempo. Entretanto o sucesso será resultado de um trabalho continuo e atento as mudanças.</a:t>
            </a:r>
            <a:r>
              <a:rPr lang="pt-BR" sz="1200" b="0" dirty="0">
                <a:effectLst/>
              </a:rPr>
              <a:t/>
            </a:r>
            <a:br>
              <a:rPr lang="pt-BR" sz="1200" b="0" dirty="0">
                <a:effectLst/>
              </a:rPr>
            </a:b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707653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xmlns="" id="{840D8033-245C-D48D-9DCB-A5A909B8A5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xmlns="" id="{2B813336-D95F-A58D-B037-61C2DDC5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400" dirty="0" smtClean="0">
                <a:solidFill>
                  <a:schemeClr val="bg2"/>
                </a:solidFill>
              </a:rPr>
              <a:t>CONCLUSÃO</a:t>
            </a:r>
            <a:endParaRPr lang="pt-BR" sz="2400" dirty="0">
              <a:solidFill>
                <a:schemeClr val="bg2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7EC8F531-59E5-2DC2-70D4-CC14B9656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537" y="1215750"/>
            <a:ext cx="8408019" cy="3233100"/>
          </a:xfrm>
        </p:spPr>
        <p:txBody>
          <a:bodyPr/>
          <a:lstStyle/>
          <a:p>
            <a:pPr marL="17780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+mn-lt"/>
              </a:rPr>
              <a:t>O presente trabalho teve como objetivo elaborar um plano de negócios para a produção e venda de doces, uma escolha motivada pelo interesse em empreendedorismo e pelo crescimento do setor de confeitaria. </a:t>
            </a:r>
          </a:p>
          <a:p>
            <a:pPr marL="17780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+mn-lt"/>
              </a:rPr>
              <a:t>Com um plano de negócio detalhado, é possível ter uma visão estratégica e organizada do empreendimento, abordando aspectos como proposta de valor, público-alvo, análise de mercado, estratégias de marketing, projeções financeiras e operações. </a:t>
            </a:r>
          </a:p>
          <a:p>
            <a:pPr marL="17780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+mn-lt"/>
              </a:rPr>
              <a:t>A experiência adquirida vai além do conhecimento técnico e inclui a importância de se adaptar ao mercado e de saber vender o produto de forma eficaz.</a:t>
            </a:r>
            <a:endParaRPr lang="pt-BR" sz="1600" b="0" dirty="0">
              <a:effectLst/>
              <a:latin typeface="+mn-lt"/>
            </a:endParaRPr>
          </a:p>
          <a:p>
            <a:pPr marL="1778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7439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920722" y="400420"/>
            <a:ext cx="7704000" cy="572700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2"/>
                </a:solidFill>
              </a:rPr>
              <a:t>REFERÊNCIAS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751" y="1048214"/>
            <a:ext cx="6623825" cy="374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8810953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F1D5BA"/>
      </a:lt1>
      <a:dk2>
        <a:srgbClr val="E2A977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601</Words>
  <Application>Microsoft Office PowerPoint</Application>
  <PresentationFormat>Apresentação na tela (16:9)</PresentationFormat>
  <Paragraphs>113</Paragraphs>
  <Slides>14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3" baseType="lpstr">
      <vt:lpstr>Arial</vt:lpstr>
      <vt:lpstr>Mulish</vt:lpstr>
      <vt:lpstr>Quicksand</vt:lpstr>
      <vt:lpstr>Bebas Neue</vt:lpstr>
      <vt:lpstr>PT Sans</vt:lpstr>
      <vt:lpstr>Wingdings</vt:lpstr>
      <vt:lpstr>Arial,Bold</vt:lpstr>
      <vt:lpstr>Nunito Light</vt:lpstr>
      <vt:lpstr>Elegant Bachelor Thesis by Slidesgo</vt:lpstr>
      <vt:lpstr>PLANO DE NEGÓCIOS: IMPLANTAÇÃO DE UMA LOJA ENCANTO DOCE EM BARRA – BA</vt:lpstr>
      <vt:lpstr>TÓPICOS</vt:lpstr>
      <vt:lpstr>O presente Trabalho de Conclusão de Curso (TCC), intitulado Plano de Negócios, tem como objetivo apresentar uma análise detalhada sobre a viabilidade da abertura de uma loja de doces na cidade de Barra.   Motivado pelo crescimento do mercado de confeitaria e pelo interesse em empreendedorismo, este projeto busca explorar as oportunidades de um setor em expansão, que atrai consumidores em busca de produtos diferenciados e de qualidade.  </vt:lpstr>
      <vt:lpstr>OBJETIVOS</vt:lpstr>
      <vt:lpstr>Principais pontos A confeitaria Encanto Doce é uma loja de doces, que será localizada no centro da cidade de Barra - BA, o que levou em consideração a grande movimentação de pessoas e que não há muitos lugares que oferecem doces que trabalham com pronta entrega. </vt:lpstr>
      <vt:lpstr>Apresentação do PowerPoint</vt:lpstr>
      <vt:lpstr>PRODUTOS E SERVIÇOS</vt:lpstr>
      <vt:lpstr>ANALISE DE MERCADO</vt:lpstr>
      <vt:lpstr>PLANO DE MARKETING E VENDAS  </vt:lpstr>
      <vt:lpstr>PLANO OPERACIONAL </vt:lpstr>
      <vt:lpstr>Apresentação do PowerPoint</vt:lpstr>
      <vt:lpstr>AVALIAÇÃO ESTRATÉGICA</vt:lpstr>
      <vt:lpstr>CONCLUSÃO</vt:lpstr>
      <vt:lpstr>REFERÊNCIAS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NEGÓCIOS: IMPLANTAÇÃO DE UMA LOJA ENCANTO DOCE EM BARRA – BA</dc:title>
  <dc:creator>Paloma</dc:creator>
  <cp:lastModifiedBy>Paloma</cp:lastModifiedBy>
  <cp:revision>4</cp:revision>
  <dcterms:modified xsi:type="dcterms:W3CDTF">2024-12-01T04:51:08Z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6a60d8-3218-42cb-9624-ea46f911dec8_Enabled">
    <vt:lpwstr>true</vt:lpwstr>
  </property>
  <property fmtid="{D5CDD505-2E9C-101B-9397-08002B2CF9AE}" pid="3" name="MSIP_Label_e36a60d8-3218-42cb-9624-ea46f911dec8_SetDate">
    <vt:lpwstr>2024-11-30T17:24:17Z</vt:lpwstr>
  </property>
  <property fmtid="{D5CDD505-2E9C-101B-9397-08002B2CF9AE}" pid="4" name="MSIP_Label_e36a60d8-3218-42cb-9624-ea46f911dec8_Method">
    <vt:lpwstr>Privileged</vt:lpwstr>
  </property>
  <property fmtid="{D5CDD505-2E9C-101B-9397-08002B2CF9AE}" pid="5" name="MSIP_Label_e36a60d8-3218-42cb-9624-ea46f911dec8_Name">
    <vt:lpwstr>Público</vt:lpwstr>
  </property>
  <property fmtid="{D5CDD505-2E9C-101B-9397-08002B2CF9AE}" pid="6" name="MSIP_Label_e36a60d8-3218-42cb-9624-ea46f911dec8_SiteId">
    <vt:lpwstr>f1f3b372-308b-4b7f-a66b-62bdcba897e4</vt:lpwstr>
  </property>
  <property fmtid="{D5CDD505-2E9C-101B-9397-08002B2CF9AE}" pid="7" name="MSIP_Label_e36a60d8-3218-42cb-9624-ea46f911dec8_ActionId">
    <vt:lpwstr>b2c8a5cb-e78f-4c7e-8616-543b741ce830</vt:lpwstr>
  </property>
  <property fmtid="{D5CDD505-2E9C-101B-9397-08002B2CF9AE}" pid="8" name="MSIP_Label_e36a60d8-3218-42cb-9624-ea46f911dec8_ContentBits">
    <vt:lpwstr>0</vt:lpwstr>
  </property>
</Properties>
</file>